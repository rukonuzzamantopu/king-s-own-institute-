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Raleway Medium"/>
      <p:regular r:id="rId12"/>
      <p:bold r:id="rId13"/>
      <p:italic r:id="rId14"/>
      <p:boldItalic r:id="rId15"/>
    </p:embeddedFont>
    <p:embeddedFont>
      <p:font typeface="Comfortaa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rEBm/rOpIC0QdNkUVWhijw1vR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Medium-bold.fntdata"/><Relationship Id="rId12" Type="http://schemas.openxmlformats.org/officeDocument/2006/relationships/font" Target="fonts/Raleway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Medium-boldItalic.fntdata"/><Relationship Id="rId14" Type="http://schemas.openxmlformats.org/officeDocument/2006/relationships/font" Target="fonts/RalewayMedium-italic.fntdata"/><Relationship Id="rId17" Type="http://customschemas.google.com/relationships/presentationmetadata" Target="metadata"/><Relationship Id="rId16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6350437" y="1717358"/>
            <a:ext cx="741592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ACS Code of Ethics in Software Development</a:t>
            </a:r>
            <a:endParaRPr b="0" i="0" sz="430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6350437" y="3459242"/>
            <a:ext cx="7415927" cy="1892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1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5950"/>
              <a:buFont typeface="Comfortaa"/>
              <a:buNone/>
            </a:pPr>
            <a:r>
              <a:rPr b="1" i="0" lang="en-US" sz="59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Building Trust Through Integrity</a:t>
            </a:r>
            <a:endParaRPr b="0" i="0" sz="5950" u="none" cap="none" strike="noStrike"/>
          </a:p>
        </p:txBody>
      </p:sp>
      <p:sp>
        <p:nvSpPr>
          <p:cNvPr id="47" name="Google Shape;47;p1"/>
          <p:cNvSpPr/>
          <p:nvPr/>
        </p:nvSpPr>
        <p:spPr>
          <a:xfrm>
            <a:off x="6350437" y="5722144"/>
            <a:ext cx="7415927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 Medium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foundational guide for computing professionals committed to responsible, ethical practice.</a:t>
            </a:r>
            <a:endParaRPr b="0" i="0" sz="1900" u="none" cap="none" strike="noStrike"/>
          </a:p>
        </p:txBody>
      </p:sp>
      <p:sp>
        <p:nvSpPr>
          <p:cNvPr id="48" name="Google Shape;48;p1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6350437" y="753070"/>
            <a:ext cx="741592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What is the ACS Code of Ethics?</a:t>
            </a:r>
            <a:endParaRPr b="0" i="0" sz="43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6350437" y="2494955"/>
            <a:ext cx="3584496" cy="2959894"/>
          </a:xfrm>
          <a:prstGeom prst="roundRect">
            <a:avLst>
              <a:gd fmla="val 12512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97253" y="2741771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What It Is</a:t>
            </a:r>
            <a:endParaRPr b="0" i="0" sz="21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6597253" y="3232785"/>
            <a:ext cx="3090862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 Medium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formal set of principles and guidelines for computing professionals to follow in their daily practice.</a:t>
            </a:r>
            <a:endParaRPr b="0" i="0" sz="19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10181749" y="2494955"/>
            <a:ext cx="3584615" cy="2959894"/>
          </a:xfrm>
          <a:prstGeom prst="roundRect">
            <a:avLst>
              <a:gd fmla="val 12512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0428565" y="2741771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Who Created It</a:t>
            </a:r>
            <a:endParaRPr b="0" i="0" sz="21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10428565" y="3232785"/>
            <a:ext cx="3090982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 Medium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Developed by the IEEE Computer Society and ACM to unify ethical standards across the profession.</a:t>
            </a:r>
            <a:endParaRPr b="0" i="0" sz="19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6350437" y="5701665"/>
            <a:ext cx="7415927" cy="1774746"/>
          </a:xfrm>
          <a:prstGeom prst="roundRect">
            <a:avLst>
              <a:gd fmla="val 20867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597253" y="594848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Why It Matters</a:t>
            </a:r>
            <a:endParaRPr b="0" i="0" sz="21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6597253" y="6439495"/>
            <a:ext cx="692229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 Medium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Ensures ethically responsible decisions and translates broad principles into concrete professional conduct.</a:t>
            </a:r>
            <a:endParaRPr b="0" i="0" sz="19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2609675" y="7656422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1400175" y="607695"/>
            <a:ext cx="5083612" cy="535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350"/>
              <a:buFont typeface="Comfortaa"/>
              <a:buNone/>
            </a:pPr>
            <a:r>
              <a:rPr b="1" i="0" lang="en-US" sz="3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Core Ethical Principles</a:t>
            </a:r>
            <a:endParaRPr b="0" i="0" sz="33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1400175" y="1444823"/>
            <a:ext cx="11830050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Eight principles guide every professional decision.</a:t>
            </a:r>
            <a:endParaRPr b="0" i="0" sz="1500" u="none" cap="none" strike="noStrike"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1889046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400175" y="2463165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Public Interest</a:t>
            </a:r>
            <a:endParaRPr b="0" i="0" sz="165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1400175" y="2821424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Prioritize society's well-being above all else.</a:t>
            </a:r>
            <a:endParaRPr b="0" i="0" sz="1500" u="none" cap="none" strike="noStrike"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9378" y="1889046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7409378" y="2463165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Client &amp; Employer</a:t>
            </a:r>
            <a:endParaRPr b="0" i="0" sz="16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7409378" y="2821424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Serve their interests, aligned with the public good.</a:t>
            </a:r>
            <a:endParaRPr b="0" i="0" sz="1500" u="none" cap="none" strike="noStrike"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3397568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1400175" y="3971687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Product Standards</a:t>
            </a:r>
            <a:endParaRPr b="0" i="0" sz="16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1400175" y="4329946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Deliver software meeting the highest professional standards.</a:t>
            </a:r>
            <a:endParaRPr b="0" i="0" sz="1500" u="none" cap="none" strike="noStrike"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9378" y="3397568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7409378" y="3971687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Judgment</a:t>
            </a:r>
            <a:endParaRPr b="0" i="0" sz="16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409378" y="4329946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Maintain integrity and independence in decisions.</a:t>
            </a:r>
            <a:endParaRPr b="0" i="0" sz="1500" u="none" cap="none" strike="noStrike"/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4906089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400175" y="5480209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Management</a:t>
            </a:r>
            <a:endParaRPr b="0" i="0" sz="16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1400175" y="5838468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Promote ethical practices within teams.</a:t>
            </a:r>
            <a:endParaRPr b="0" i="0" sz="1500" u="none" cap="none" strike="noStrike"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9378" y="4906089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7409378" y="5480209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Profession</a:t>
            </a:r>
            <a:endParaRPr b="0" i="0" sz="16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7409378" y="5838468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Advance the integrity of the computing field.</a:t>
            </a:r>
            <a:endParaRPr b="0" i="0" sz="1500" u="none" cap="none" strike="noStrike"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6414611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1400175" y="6988731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Colleagues</a:t>
            </a:r>
            <a:endParaRPr b="0" i="0" sz="165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1400175" y="7346990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 fair, supportive, and collaborative.</a:t>
            </a:r>
            <a:endParaRPr b="0" i="0" sz="1500" u="none" cap="none" strike="noStrike"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9378" y="6414611"/>
            <a:ext cx="3857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409378" y="6988731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Self</a:t>
            </a:r>
            <a:endParaRPr b="0" i="0" sz="165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409378" y="7346990"/>
            <a:ext cx="5820847" cy="274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Commit to lifelong learning and ethical growth.</a:t>
            </a:r>
            <a:endParaRPr b="0" i="0" sz="15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796528" y="682943"/>
            <a:ext cx="9447252" cy="632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950"/>
              <a:buFont typeface="Comfortaa"/>
              <a:buNone/>
            </a:pPr>
            <a:r>
              <a:rPr b="1" i="0" lang="en-US" sz="39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Ethics Across the Software Lifecycle</a:t>
            </a:r>
            <a:endParaRPr b="0" i="0" sz="39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96528" y="1734741"/>
            <a:ext cx="13037344" cy="3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Raleway Medium"/>
              <a:buNone/>
            </a:pPr>
            <a:r>
              <a:rPr b="0" i="0" lang="en-US" sz="17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Ethical responsibility applies at every stage of development — from concept to launch.</a:t>
            </a:r>
            <a:endParaRPr b="0" i="0" sz="1750" u="none" cap="none" strike="noStrike"/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876" y="2320647"/>
            <a:ext cx="10138529" cy="4640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9783" y="3479157"/>
            <a:ext cx="651865" cy="65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10009013" y="5879243"/>
            <a:ext cx="1903446" cy="325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50"/>
              <a:buFont typeface="Comfortaa"/>
              <a:buNone/>
            </a:pPr>
            <a:r>
              <a:rPr b="1" i="0" lang="en-US" sz="20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Deployment</a:t>
            </a:r>
            <a:endParaRPr b="0" i="0" sz="2050" u="none" cap="none" strike="noStrike"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3346" y="3480379"/>
            <a:ext cx="651865" cy="65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7610149" y="5879243"/>
            <a:ext cx="1903447" cy="325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50"/>
              <a:buFont typeface="Comfortaa"/>
              <a:buNone/>
            </a:pPr>
            <a:r>
              <a:rPr b="1" i="0" lang="en-US" sz="20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Testing</a:t>
            </a:r>
            <a:endParaRPr b="0" i="0" sz="2050" u="none" cap="none" strike="noStrike"/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519" y="3480379"/>
            <a:ext cx="651865" cy="65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5224322" y="5879243"/>
            <a:ext cx="1903446" cy="325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50"/>
              <a:buFont typeface="Comfortaa"/>
              <a:buNone/>
            </a:pPr>
            <a:r>
              <a:rPr b="1" i="0" lang="en-US" sz="20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Development</a:t>
            </a:r>
            <a:endParaRPr b="0" i="0" sz="2050" u="none" cap="none" strike="noStrike"/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8656" y="3480379"/>
            <a:ext cx="651865" cy="651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2786346" y="5879243"/>
            <a:ext cx="1903447" cy="325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50"/>
              <a:buFont typeface="Comfortaa"/>
              <a:buNone/>
            </a:pPr>
            <a:r>
              <a:rPr b="1" i="0" lang="en-US" sz="20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Design</a:t>
            </a:r>
            <a:endParaRPr b="0" i="0" sz="20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96528" y="7196733"/>
            <a:ext cx="13037344" cy="3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Raleway Medium"/>
              <a:buNone/>
            </a:pPr>
            <a:r>
              <a:rPr b="0" i="0" lang="en-US" sz="17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Ethical lapses at any stage can compound — building integrity in from the start is far easier than fixing harm after the fact.</a:t>
            </a:r>
            <a:endParaRPr b="0" i="0" sz="175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2014895"/>
            <a:ext cx="7524750" cy="419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9403080" y="771644"/>
            <a:ext cx="1657350" cy="335518"/>
          </a:xfrm>
          <a:prstGeom prst="roundRect">
            <a:avLst>
              <a:gd fmla="val 68985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18809" y="862251"/>
            <a:ext cx="154305" cy="15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9750266" y="829508"/>
            <a:ext cx="1194435" cy="219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00"/>
              <a:buFont typeface="Raleway Medium"/>
              <a:buNone/>
            </a:pPr>
            <a:r>
              <a:rPr b="0" i="0" lang="en-US" sz="12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ETHICAL FOCUS</a:t>
            </a:r>
            <a:endParaRPr b="0" i="0" sz="12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9403080" y="1167408"/>
            <a:ext cx="3834646" cy="1071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350"/>
              <a:buFont typeface="Comfortaa"/>
              <a:buNone/>
            </a:pPr>
            <a:r>
              <a:rPr b="1" i="0" lang="en-US" sz="3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Privacy &amp; Security</a:t>
            </a:r>
            <a:endParaRPr b="0" i="0" sz="33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9403080" y="2408396"/>
            <a:ext cx="3834646" cy="1674376"/>
          </a:xfrm>
          <a:prstGeom prst="roundRect">
            <a:avLst>
              <a:gd fmla="val 655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9380220" y="2408396"/>
            <a:ext cx="91440" cy="1674376"/>
          </a:xfrm>
          <a:prstGeom prst="roundRect">
            <a:avLst>
              <a:gd fmla="val 31640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687401" y="2624137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Protect User Data</a:t>
            </a:r>
            <a:endParaRPr b="0" i="0" sz="16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9687401" y="3042642"/>
            <a:ext cx="3334583" cy="824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Respect confidentiality and minimize data collection to what is strictly necessary.</a:t>
            </a:r>
            <a:endParaRPr b="0" i="0" sz="150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9403080" y="4233386"/>
            <a:ext cx="3834646" cy="1674376"/>
          </a:xfrm>
          <a:prstGeom prst="roundRect">
            <a:avLst>
              <a:gd fmla="val 655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380220" y="4233386"/>
            <a:ext cx="91440" cy="1674376"/>
          </a:xfrm>
          <a:prstGeom prst="roundRect">
            <a:avLst>
              <a:gd fmla="val 31640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687401" y="4449128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Design Securely</a:t>
            </a:r>
            <a:endParaRPr b="0" i="0" sz="16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9687401" y="4867632"/>
            <a:ext cx="3334583" cy="824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Implement robust security measures to prevent unauthorized access and data breaches.</a:t>
            </a:r>
            <a:endParaRPr b="0" i="0" sz="150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9403080" y="6058376"/>
            <a:ext cx="3834646" cy="1399580"/>
          </a:xfrm>
          <a:prstGeom prst="roundRect">
            <a:avLst>
              <a:gd fmla="val 7840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380220" y="6058376"/>
            <a:ext cx="91440" cy="1399580"/>
          </a:xfrm>
          <a:prstGeom prst="roundRect">
            <a:avLst>
              <a:gd fmla="val 31640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687401" y="6274118"/>
            <a:ext cx="21431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50"/>
              <a:buFont typeface="Comfortaa"/>
              <a:buNone/>
            </a:pPr>
            <a:r>
              <a:rPr b="1" i="0" lang="en-US" sz="1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Be Transparent</a:t>
            </a:r>
            <a:endParaRPr b="0" i="0" sz="165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9687401" y="6692622"/>
            <a:ext cx="3334583" cy="54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00"/>
              <a:buFont typeface="Raleway Medium"/>
              <a:buNone/>
            </a:pPr>
            <a:r>
              <a:rPr b="0" i="0" lang="en-US" sz="15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Clearly communicate how data is collected, stored, and used.</a:t>
            </a:r>
            <a:endParaRPr b="0" i="0" sz="15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1636752" y="682585"/>
            <a:ext cx="1589842" cy="318254"/>
          </a:xfrm>
          <a:prstGeom prst="roundRect">
            <a:avLst>
              <a:gd fmla="val 69818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7838" y="767596"/>
            <a:ext cx="148114" cy="14811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1970008" y="738068"/>
            <a:ext cx="1145500" cy="207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None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ETHICAL FOCUS</a:t>
            </a:r>
            <a:endParaRPr b="0" i="0" sz="1150" u="none" cap="none" strike="noStrike"/>
          </a:p>
        </p:txBody>
      </p:sp>
      <p:sp>
        <p:nvSpPr>
          <p:cNvPr id="147" name="Google Shape;147;p6"/>
          <p:cNvSpPr/>
          <p:nvPr/>
        </p:nvSpPr>
        <p:spPr>
          <a:xfrm>
            <a:off x="1636752" y="1056323"/>
            <a:ext cx="368117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200"/>
              <a:buFont typeface="Comfortaa"/>
              <a:buNone/>
            </a:pPr>
            <a:r>
              <a:rPr b="1" i="0" lang="en-US" sz="32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Competence &amp; Honesty</a:t>
            </a:r>
            <a:endParaRPr b="0" i="0" sz="32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1636752" y="2241233"/>
            <a:ext cx="3681174" cy="1848803"/>
          </a:xfrm>
          <a:prstGeom prst="roundRect">
            <a:avLst>
              <a:gd fmla="val 5935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613892" y="2241233"/>
            <a:ext cx="91440" cy="184880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913334" y="2449235"/>
            <a:ext cx="2057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b="1" i="0" lang="en-US" sz="16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Know Your Limits</a:t>
            </a:r>
            <a:endParaRPr b="0" i="0" sz="16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1913334" y="2845237"/>
            <a:ext cx="3196590" cy="1036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b="0" i="0" lang="en-US" sz="14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Only undertake work within your verified areas of expertise. Misrepresenting capability risks harm to users and clients.</a:t>
            </a:r>
            <a:endParaRPr b="0" i="0" sz="145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1636752" y="4228862"/>
            <a:ext cx="3681174" cy="1589603"/>
          </a:xfrm>
          <a:prstGeom prst="roundRect">
            <a:avLst>
              <a:gd fmla="val 690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613892" y="4228862"/>
            <a:ext cx="91440" cy="158960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913334" y="4436864"/>
            <a:ext cx="2057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b="1" i="0" lang="en-US" sz="16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Be Truthful</a:t>
            </a:r>
            <a:endParaRPr b="0" i="0" sz="16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1913334" y="4832866"/>
            <a:ext cx="3196590" cy="777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b="0" i="0" lang="en-US" sz="14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Report project status, risks, and limitations honestly — even when the truth is uncomfortable.</a:t>
            </a:r>
            <a:endParaRPr b="0" i="0" sz="145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1636752" y="5957292"/>
            <a:ext cx="3681174" cy="1589603"/>
          </a:xfrm>
          <a:prstGeom prst="roundRect">
            <a:avLst>
              <a:gd fmla="val 690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613892" y="5957292"/>
            <a:ext cx="91440" cy="158960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913334" y="6165294"/>
            <a:ext cx="2057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600"/>
              <a:buFont typeface="Comfortaa"/>
              <a:buNone/>
            </a:pPr>
            <a:r>
              <a:rPr b="1" i="0" lang="en-US" sz="16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Pursue Quality</a:t>
            </a:r>
            <a:endParaRPr b="0" i="0" sz="16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1913334" y="6561296"/>
            <a:ext cx="3196590" cy="777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450"/>
              <a:buFont typeface="Raleway Medium"/>
              <a:buNone/>
            </a:pPr>
            <a:r>
              <a:rPr b="0" i="0" lang="en-US" sz="14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Strive for excellence in both process and product. High standards reflect professional integrity.</a:t>
            </a:r>
            <a:endParaRPr b="0" i="0" sz="1450" u="none" cap="none" strike="noStrike"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270" y="2098834"/>
            <a:ext cx="7223760" cy="403181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6282928" y="625912"/>
            <a:ext cx="7550944" cy="126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950"/>
              <a:buFont typeface="Comfortaa"/>
              <a:buNone/>
            </a:pPr>
            <a:r>
              <a:rPr b="1" i="0" lang="en-US" sz="39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Upholding Professional Standards</a:t>
            </a:r>
            <a:endParaRPr b="0" i="0" sz="395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6282928" y="2205038"/>
            <a:ext cx="7550944" cy="3893582"/>
          </a:xfrm>
          <a:prstGeom prst="roundRect">
            <a:avLst>
              <a:gd fmla="val 87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282928" y="2205038"/>
            <a:ext cx="3775472" cy="2296716"/>
          </a:xfrm>
          <a:prstGeom prst="roundRect">
            <a:avLst>
              <a:gd fmla="val 1486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510457" y="2432566"/>
            <a:ext cx="2528888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50"/>
              <a:buFont typeface="Comfortaa"/>
              <a:buNone/>
            </a:pPr>
            <a:r>
              <a:rPr b="1" i="0" lang="en-US" sz="1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 Vital Guide</a:t>
            </a:r>
            <a:endParaRPr b="0" i="0" sz="195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6510457" y="2874526"/>
            <a:ext cx="3320415" cy="1399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Raleway Medium"/>
              <a:buNone/>
            </a:pPr>
            <a:r>
              <a:rPr b="0" i="0" lang="en-US" sz="17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ACS Code is not optional — it is the foundation of responsible software engineering.</a:t>
            </a:r>
            <a:endParaRPr b="0" i="0" sz="175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10058400" y="2205038"/>
            <a:ext cx="3775472" cy="2296716"/>
          </a:xfrm>
          <a:prstGeom prst="rect">
            <a:avLst/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0058400" y="2205038"/>
            <a:ext cx="30480" cy="2296716"/>
          </a:xfrm>
          <a:prstGeom prst="roundRect">
            <a:avLst>
              <a:gd fmla="val 1120077" name="adj"/>
            </a:avLst>
          </a:prstGeom>
          <a:solidFill>
            <a:srgbClr val="5F5F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0285928" y="2432566"/>
            <a:ext cx="2528888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50"/>
              <a:buFont typeface="Comfortaa"/>
              <a:buNone/>
            </a:pPr>
            <a:r>
              <a:rPr b="1" i="0" lang="en-US" sz="1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Benefits Society</a:t>
            </a:r>
            <a:endParaRPr b="0" i="0" sz="195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10285928" y="2874526"/>
            <a:ext cx="3320415" cy="1049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Raleway Medium"/>
              <a:buNone/>
            </a:pPr>
            <a:r>
              <a:rPr b="0" i="0" lang="en-US" sz="17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Ethical development ensures software serves people well and avoids unintended harm.</a:t>
            </a:r>
            <a:endParaRPr b="0" i="0" sz="175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6282928" y="4501753"/>
            <a:ext cx="7550944" cy="1596866"/>
          </a:xfrm>
          <a:prstGeom prst="rect">
            <a:avLst/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282928" y="4501753"/>
            <a:ext cx="7550944" cy="30480"/>
          </a:xfrm>
          <a:prstGeom prst="roundRect">
            <a:avLst>
              <a:gd fmla="val 1120077" name="adj"/>
            </a:avLst>
          </a:prstGeom>
          <a:solidFill>
            <a:srgbClr val="5F5F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510457" y="4729282"/>
            <a:ext cx="2528888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50"/>
              <a:buFont typeface="Comfortaa"/>
              <a:buNone/>
            </a:pPr>
            <a:r>
              <a:rPr b="1" i="0" lang="en-US" sz="1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Builds Trust</a:t>
            </a:r>
            <a:endParaRPr b="0" i="0" sz="195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6510457" y="5171242"/>
            <a:ext cx="7095887" cy="699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Raleway Medium"/>
              <a:buNone/>
            </a:pPr>
            <a:r>
              <a:rPr b="0" i="0" lang="en-US" sz="17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Consistent commitment to these principles earns the confidence of users, clients, and colleagues.</a:t>
            </a:r>
            <a:endParaRPr b="0" i="0" sz="175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6282928" y="6334601"/>
            <a:ext cx="7550944" cy="1268968"/>
          </a:xfrm>
          <a:prstGeom prst="roundRect">
            <a:avLst>
              <a:gd fmla="val 26904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457" y="6671191"/>
            <a:ext cx="284440" cy="22752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7022425" y="6601182"/>
            <a:ext cx="6583918" cy="699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Raleway Medium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Takeaway:</a:t>
            </a:r>
            <a:r>
              <a:rPr b="0" i="0" lang="en-US" sz="175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Act ethically not just because the Code requires it — but because it is the right thing to do.</a:t>
            </a:r>
            <a:endParaRPr b="0" i="0" sz="175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12609675" y="7637059"/>
            <a:ext cx="2020800" cy="534600"/>
          </a:xfrm>
          <a:prstGeom prst="rect">
            <a:avLst/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2026-04-13T14:55:32Z</dcterms:created>
</cp:coreProperties>
</file>