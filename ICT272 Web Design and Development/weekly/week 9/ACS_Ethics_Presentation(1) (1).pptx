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59" autoAdjust="0"/>
    <p:restoredTop sz="94610"/>
  </p:normalViewPr>
  <p:slideViewPr>
    <p:cSldViewPr snapToGrid="0" snapToObjects="1">
      <p:cViewPr varScale="1">
        <p:scale>
          <a:sx n="150" d="100"/>
          <a:sy n="150" d="100"/>
        </p:scale>
        <p:origin x="192" y="3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4751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5-minute presentation on the ACS Code of Ethics and how it applies in software development. The Australian Computer Society (ACS) provides a comprehensive ethical framework for ICT professionals. Today we will explore four core principles: privacy, security, competence, and honesty — and see how they are applied across the software development lifecycle.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ACS Code of Ethics is a formal set of guidelines developed by the Australian Computer Society. It was created to ensure that ICT professionals act responsibly, ethically, and in the public interest. The Code covers seven key values, but today we focus on four that directly impact software development: privacy, security, honesty, and competence. These principles are not optional — they are expected of every ACS member.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four core ethical principles that ACS emphasises for software developers. Privacy means developers must safeguard user data and comply with regulations like the Australian Privacy Act. Security requires applying secure coding practices throughout the development process. Competence means professionals must continually update their skills and deliver quality work. Honesty demands transparency with clients, employers, and end users at every stage of a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Facebook–Cambridge Analytica scandal of 2018 is one of the most significant data privacy breaches in history. Cambridge Analytica, a political consulting firm, harvested data from 87 million users through a third-party Facebook app. This violated the ACS principles of privacy, honesty, and competence. Developers and decision-makers failed to design adequate safeguards, failed to be transparent with users, and failed to govern third-party access responsibly. For ACS-aligned developers, this case highlights the real-world consequences of ignoring ethical obligations.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slide maps the ACS ethical principles to each phase of the Software Development Lifecycle. In Planning, developers identify ethical requirements and privacy risks. During Design, privacy-by-design and secure architecture are implemented. In Development, secure coding and bias-free algorithms are prioritised. Testing includes penetration testing and privacy compliance checks. Finally, Deployment requires transparency and a data breach response plan. The key takeaway is this: ethical behaviour is not a checkbox — it is a continuous responsibility for every software professional. Thank you for watching.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20%30%329397@%73%74ud%65%6et%73%2e%6bo%69.ed%75%2e%61%7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Shape 1"/>
          <p:cNvSpPr/>
          <p:nvPr/>
        </p:nvSpPr>
        <p:spPr>
          <a:xfrm>
            <a:off x="7132320" y="-731520"/>
            <a:ext cx="2926080" cy="2926080"/>
          </a:xfrm>
          <a:prstGeom prst="ellipse">
            <a:avLst/>
          </a:prstGeom>
          <a:solidFill>
            <a:srgbClr val="1E3A6E"/>
          </a:solidFill>
          <a:ln w="12700">
            <a:solidFill>
              <a:srgbClr val="1E3A6E"/>
            </a:solidFill>
            <a:prstDash val="solid"/>
          </a:ln>
        </p:spPr>
      </p:sp>
      <p:sp>
        <p:nvSpPr>
          <p:cNvPr id="4" name="Shape 2"/>
          <p:cNvSpPr/>
          <p:nvPr/>
        </p:nvSpPr>
        <p:spPr>
          <a:xfrm>
            <a:off x="7498080" y="-365760"/>
            <a:ext cx="2377440" cy="2377440"/>
          </a:xfrm>
          <a:prstGeom prst="ellipse">
            <a:avLst/>
          </a:prstGeom>
          <a:solidFill>
            <a:srgbClr val="22376A"/>
          </a:solidFill>
          <a:ln w="12700">
            <a:solidFill>
              <a:srgbClr val="22376A"/>
            </a:solidFill>
            <a:prstDash val="solid"/>
          </a:ln>
        </p:spPr>
      </p:sp>
      <p:sp>
        <p:nvSpPr>
          <p:cNvPr id="5" name="Shape 3"/>
          <p:cNvSpPr/>
          <p:nvPr/>
        </p:nvSpPr>
        <p:spPr>
          <a:xfrm>
            <a:off x="457200" y="594360"/>
            <a:ext cx="2194560" cy="320040"/>
          </a:xfrm>
          <a:prstGeom prst="rect">
            <a:avLst/>
          </a:prstGeom>
          <a:solidFill>
            <a:srgbClr val="0D9488"/>
          </a:solidFill>
          <a:ln w="12700">
            <a:solidFill>
              <a:srgbClr val="0D9488"/>
            </a:solidFill>
            <a:prstDash val="solid"/>
          </a:ln>
        </p:spPr>
      </p:sp>
      <p:sp>
        <p:nvSpPr>
          <p:cNvPr id="6" name="Text 4"/>
          <p:cNvSpPr/>
          <p:nvPr/>
        </p:nvSpPr>
        <p:spPr>
          <a:xfrm>
            <a:off x="457200" y="594360"/>
            <a:ext cx="2194560" cy="320040"/>
          </a:xfrm>
          <a:prstGeom prst="rect">
            <a:avLst/>
          </a:prstGeom>
          <a:noFill/>
          <a:ln/>
        </p:spPr>
        <p:txBody>
          <a:bodyPr wrap="square" lIns="0" tIns="0" rIns="0" bIns="0" rtlCol="0" anchor="ctr"/>
          <a:lstStyle/>
          <a:p>
            <a:pPr marL="0" indent="0" algn="ctr">
              <a:buNone/>
            </a:pPr>
            <a:r>
              <a:rPr lang="en-US" sz="850" b="1" dirty="0">
                <a:solidFill>
                  <a:srgbClr val="FFFFFF"/>
                </a:solidFill>
              </a:rPr>
              <a:t>ACADEMIC RESEARCH</a:t>
            </a:r>
            <a:endParaRPr lang="en-US" sz="850" dirty="0"/>
          </a:p>
        </p:txBody>
      </p:sp>
      <p:sp>
        <p:nvSpPr>
          <p:cNvPr id="7" name="Text 5"/>
          <p:cNvSpPr/>
          <p:nvPr/>
        </p:nvSpPr>
        <p:spPr>
          <a:xfrm>
            <a:off x="457200" y="1097280"/>
            <a:ext cx="8046720" cy="77724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ACS Code of Ethics</a:t>
            </a:r>
            <a:endParaRPr lang="en-US" sz="4200" dirty="0"/>
          </a:p>
        </p:txBody>
      </p:sp>
      <p:sp>
        <p:nvSpPr>
          <p:cNvPr id="8" name="Text 6"/>
          <p:cNvSpPr/>
          <p:nvPr/>
        </p:nvSpPr>
        <p:spPr>
          <a:xfrm>
            <a:off x="355600" y="1696110"/>
            <a:ext cx="8046720" cy="502920"/>
          </a:xfrm>
          <a:prstGeom prst="rect">
            <a:avLst/>
          </a:prstGeom>
          <a:noFill/>
          <a:ln/>
        </p:spPr>
        <p:txBody>
          <a:bodyPr wrap="square" rtlCol="0" anchor="ctr"/>
          <a:lstStyle/>
          <a:p>
            <a:pPr marL="0" indent="0">
              <a:buNone/>
            </a:pPr>
            <a:r>
              <a:rPr lang="en-US" sz="2200" dirty="0">
                <a:solidFill>
                  <a:srgbClr val="F5A623"/>
                </a:solidFill>
                <a:latin typeface="Calibri" pitchFamily="34" charset="0"/>
                <a:ea typeface="Calibri" pitchFamily="34" charset="-122"/>
                <a:cs typeface="Calibri" pitchFamily="34" charset="-120"/>
              </a:rPr>
              <a:t>&amp; Its Application in Software Development</a:t>
            </a:r>
            <a:endParaRPr lang="en-US" sz="2200" dirty="0"/>
          </a:p>
        </p:txBody>
      </p:sp>
      <p:sp>
        <p:nvSpPr>
          <p:cNvPr id="9" name="Shape 7"/>
          <p:cNvSpPr/>
          <p:nvPr/>
        </p:nvSpPr>
        <p:spPr>
          <a:xfrm>
            <a:off x="457200" y="2395728"/>
            <a:ext cx="4114800" cy="36576"/>
          </a:xfrm>
          <a:prstGeom prst="rect">
            <a:avLst/>
          </a:prstGeom>
          <a:solidFill>
            <a:srgbClr val="8FA3C0"/>
          </a:solidFill>
          <a:ln w="12700">
            <a:solidFill>
              <a:srgbClr val="8FA3C0"/>
            </a:solidFill>
            <a:prstDash val="solid"/>
          </a:ln>
        </p:spPr>
      </p:sp>
      <p:sp>
        <p:nvSpPr>
          <p:cNvPr id="10" name="Text 8"/>
          <p:cNvSpPr/>
          <p:nvPr/>
        </p:nvSpPr>
        <p:spPr>
          <a:xfrm>
            <a:off x="457200" y="2542032"/>
            <a:ext cx="8229600" cy="320040"/>
          </a:xfrm>
          <a:prstGeom prst="rect">
            <a:avLst/>
          </a:prstGeom>
          <a:noFill/>
          <a:ln/>
        </p:spPr>
        <p:txBody>
          <a:bodyPr wrap="square" rtlCol="0" anchor="ctr"/>
          <a:lstStyle/>
          <a:p>
            <a:pPr marL="0" indent="0">
              <a:buNone/>
            </a:pPr>
            <a:r>
              <a:rPr lang="en-US" sz="1300" i="1" dirty="0">
                <a:solidFill>
                  <a:srgbClr val="8FA3C0"/>
                </a:solidFill>
                <a:latin typeface="Calibri" pitchFamily="34" charset="0"/>
                <a:ea typeface="Calibri" pitchFamily="34" charset="-122"/>
                <a:cs typeface="Calibri" pitchFamily="34" charset="-120"/>
              </a:rPr>
              <a:t>Exploring Privacy · Security · Competence · Honesty</a:t>
            </a:r>
            <a:endParaRPr lang="en-US" sz="1300" dirty="0"/>
          </a:p>
        </p:txBody>
      </p:sp>
      <p:sp>
        <p:nvSpPr>
          <p:cNvPr id="11" name="Shape 9"/>
          <p:cNvSpPr/>
          <p:nvPr/>
        </p:nvSpPr>
        <p:spPr>
          <a:xfrm>
            <a:off x="0" y="4480560"/>
            <a:ext cx="9144000" cy="662940"/>
          </a:xfrm>
          <a:prstGeom prst="rect">
            <a:avLst/>
          </a:prstGeom>
          <a:solidFill>
            <a:srgbClr val="1E3A6E"/>
          </a:solidFill>
          <a:ln w="12700">
            <a:solidFill>
              <a:srgbClr val="1E3A6E"/>
            </a:solidFill>
            <a:prstDash val="solid"/>
          </a:ln>
        </p:spPr>
      </p:sp>
      <p:sp>
        <p:nvSpPr>
          <p:cNvPr id="21" name="TextBox 20">
            <a:extLst>
              <a:ext uri="{FF2B5EF4-FFF2-40B4-BE49-F238E27FC236}">
                <a16:creationId xmlns:a16="http://schemas.microsoft.com/office/drawing/2014/main" id="{AFB2C5E2-6F1F-6634-2515-99E4D162175D}"/>
              </a:ext>
            </a:extLst>
          </p:cNvPr>
          <p:cNvSpPr txBox="1"/>
          <p:nvPr/>
        </p:nvSpPr>
        <p:spPr>
          <a:xfrm>
            <a:off x="-79375" y="2881908"/>
            <a:ext cx="5035550" cy="646331"/>
          </a:xfrm>
          <a:prstGeom prst="rect">
            <a:avLst/>
          </a:prstGeom>
          <a:noFill/>
        </p:spPr>
        <p:txBody>
          <a:bodyPr wrap="square">
            <a:spAutoFit/>
          </a:bodyPr>
          <a:lstStyle/>
          <a:p>
            <a:pPr algn="ctr"/>
            <a:r>
              <a:rPr lang="en-US" sz="1800" dirty="0">
                <a:solidFill>
                  <a:srgbClr val="8899BB"/>
                </a:solidFill>
                <a:latin typeface="Calibri" pitchFamily="34" charset="0"/>
                <a:ea typeface="Calibri" pitchFamily="34" charset="-122"/>
                <a:cs typeface="Calibri" pitchFamily="34" charset="-120"/>
              </a:rPr>
              <a:t>Presented </a:t>
            </a:r>
            <a:r>
              <a:rPr lang="en-US" sz="1800" dirty="0" err="1">
                <a:solidFill>
                  <a:srgbClr val="8899BB"/>
                </a:solidFill>
                <a:latin typeface="Calibri" pitchFamily="34" charset="0"/>
                <a:ea typeface="Calibri" pitchFamily="34" charset="-122"/>
                <a:cs typeface="Calibri" pitchFamily="34" charset="-120"/>
              </a:rPr>
              <a:t>by:</a:t>
            </a:r>
            <a:r>
              <a:rPr lang="en-US" b="1" dirty="0" err="1">
                <a:solidFill>
                  <a:schemeClr val="accent4">
                    <a:lumMod val="60000"/>
                    <a:lumOff val="40000"/>
                  </a:schemeClr>
                </a:solidFill>
              </a:rPr>
              <a:t>Md</a:t>
            </a:r>
            <a:r>
              <a:rPr lang="en-US" b="1" dirty="0">
                <a:solidFill>
                  <a:schemeClr val="accent4">
                    <a:lumMod val="60000"/>
                    <a:lumOff val="40000"/>
                  </a:schemeClr>
                </a:solidFill>
              </a:rPr>
              <a:t> Amdadul Haque KAWSER</a:t>
            </a:r>
          </a:p>
          <a:p>
            <a:pPr algn="ctr"/>
            <a:r>
              <a:rPr lang="en-US" sz="1800" dirty="0">
                <a:solidFill>
                  <a:srgbClr val="8899BB"/>
                </a:solidFill>
                <a:latin typeface="Calibri" pitchFamily="34" charset="0"/>
                <a:ea typeface="Calibri" pitchFamily="34" charset="-122"/>
                <a:cs typeface="Calibri" pitchFamily="34" charset="-120"/>
              </a:rPr>
              <a:t>  Student ID:</a:t>
            </a:r>
            <a:r>
              <a:rPr lang="en-US" dirty="0">
                <a:hlinkClick r:id="rId3"/>
              </a:rPr>
              <a:t>2002939</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2A4A"/>
          </a:solidFill>
          <a:ln w="12700">
            <a:solidFill>
              <a:srgbClr val="1A2A4A"/>
            </a:solidFill>
            <a:prstDash val="solid"/>
          </a:ln>
        </p:spPr>
      </p:sp>
      <p:sp>
        <p:nvSpPr>
          <p:cNvPr id="3" name="Shape 1"/>
          <p:cNvSpPr/>
          <p:nvPr/>
        </p:nvSpPr>
        <p:spPr>
          <a:xfrm>
            <a:off x="8412480" y="228600"/>
            <a:ext cx="457200" cy="457200"/>
          </a:xfrm>
          <a:prstGeom prst="ellipse">
            <a:avLst/>
          </a:prstGeom>
          <a:solidFill>
            <a:srgbClr val="1A2A4A"/>
          </a:solidFill>
          <a:ln w="12700">
            <a:solidFill>
              <a:srgbClr val="1A2A4A"/>
            </a:solidFill>
            <a:prstDash val="solid"/>
          </a:ln>
        </p:spPr>
      </p:sp>
      <p:sp>
        <p:nvSpPr>
          <p:cNvPr id="4" name="Text 2"/>
          <p:cNvSpPr/>
          <p:nvPr/>
        </p:nvSpPr>
        <p:spPr>
          <a:xfrm>
            <a:off x="8412480" y="228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5" name="Text 3"/>
          <p:cNvSpPr/>
          <p:nvPr/>
        </p:nvSpPr>
        <p:spPr>
          <a:xfrm>
            <a:off x="365760" y="201168"/>
            <a:ext cx="7772400" cy="502920"/>
          </a:xfrm>
          <a:prstGeom prst="rect">
            <a:avLst/>
          </a:prstGeom>
          <a:noFill/>
          <a:ln/>
        </p:spPr>
        <p:txBody>
          <a:bodyPr wrap="square" rtlCol="0" anchor="ctr"/>
          <a:lstStyle/>
          <a:p>
            <a:pPr marL="0" indent="0">
              <a:buNone/>
            </a:pPr>
            <a:r>
              <a:rPr lang="en-US" sz="2600" b="1" dirty="0">
                <a:solidFill>
                  <a:srgbClr val="1A2A4A"/>
                </a:solidFill>
                <a:latin typeface="Calibri" pitchFamily="34" charset="0"/>
                <a:ea typeface="Calibri" pitchFamily="34" charset="-122"/>
                <a:cs typeface="Calibri" pitchFamily="34" charset="-120"/>
              </a:rPr>
              <a:t>What is the ACS Code of Ethics?</a:t>
            </a:r>
            <a:endParaRPr lang="en-US" sz="2600" dirty="0"/>
          </a:p>
        </p:txBody>
      </p:sp>
      <p:sp>
        <p:nvSpPr>
          <p:cNvPr id="6" name="Shape 4"/>
          <p:cNvSpPr/>
          <p:nvPr/>
        </p:nvSpPr>
        <p:spPr>
          <a:xfrm>
            <a:off x="320040" y="896112"/>
            <a:ext cx="4023360" cy="3520440"/>
          </a:xfrm>
          <a:prstGeom prst="rect">
            <a:avLst/>
          </a:prstGeom>
          <a:solidFill>
            <a:srgbClr val="FFFFFF"/>
          </a:solidFill>
          <a:ln/>
          <a:effectLst>
            <a:outerShdw blurRad="101600" dist="25400" dir="8100000" algn="bl" rotWithShape="0">
              <a:srgbClr val="000000">
                <a:alpha val="10000"/>
              </a:srgbClr>
            </a:outerShdw>
          </a:effectLst>
        </p:spPr>
      </p:sp>
      <p:sp>
        <p:nvSpPr>
          <p:cNvPr id="7" name="Shape 5"/>
          <p:cNvSpPr/>
          <p:nvPr/>
        </p:nvSpPr>
        <p:spPr>
          <a:xfrm>
            <a:off x="320040" y="896112"/>
            <a:ext cx="82296" cy="3520440"/>
          </a:xfrm>
          <a:prstGeom prst="rect">
            <a:avLst/>
          </a:prstGeom>
          <a:solidFill>
            <a:srgbClr val="0D9488"/>
          </a:solidFill>
          <a:ln w="12700">
            <a:solidFill>
              <a:srgbClr val="0D9488"/>
            </a:solidFill>
            <a:prstDash val="solid"/>
          </a:ln>
        </p:spPr>
      </p:sp>
      <p:sp>
        <p:nvSpPr>
          <p:cNvPr id="8" name="Text 6"/>
          <p:cNvSpPr/>
          <p:nvPr/>
        </p:nvSpPr>
        <p:spPr>
          <a:xfrm>
            <a:off x="502920" y="1005840"/>
            <a:ext cx="3657600" cy="347472"/>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Overview</a:t>
            </a:r>
            <a:endParaRPr lang="en-US" sz="1400" dirty="0"/>
          </a:p>
        </p:txBody>
      </p:sp>
      <p:sp>
        <p:nvSpPr>
          <p:cNvPr id="9" name="Text 7"/>
          <p:cNvSpPr/>
          <p:nvPr/>
        </p:nvSpPr>
        <p:spPr>
          <a:xfrm>
            <a:off x="548640" y="1444752"/>
            <a:ext cx="3611880" cy="2651760"/>
          </a:xfrm>
          <a:prstGeom prst="rect">
            <a:avLst/>
          </a:prstGeom>
          <a:noFill/>
          <a:ln/>
        </p:spPr>
        <p:txBody>
          <a:bodyPr wrap="square" rtlCol="0" anchor="ctr"/>
          <a:lstStyle/>
          <a:p>
            <a:pPr marL="342900" indent="-342900">
              <a:spcAft>
                <a:spcPts val="600"/>
              </a:spcAft>
              <a:buSzPct val="100000"/>
              <a:buChar char="•"/>
            </a:pPr>
            <a:r>
              <a:rPr lang="en-US" sz="1200" dirty="0">
                <a:solidFill>
                  <a:srgbClr val="1A2A4A"/>
                </a:solidFill>
                <a:latin typeface="Calibri" pitchFamily="34" charset="0"/>
                <a:ea typeface="Calibri" pitchFamily="34" charset="-122"/>
                <a:cs typeface="Calibri" pitchFamily="34" charset="-120"/>
              </a:rPr>
              <a:t>Established by the Australian Computer Society (ACS)</a:t>
            </a:r>
            <a:endParaRPr lang="en-US" sz="1200" dirty="0"/>
          </a:p>
          <a:p>
            <a:pPr marL="342900" indent="-342900">
              <a:spcAft>
                <a:spcPts val="600"/>
              </a:spcAft>
              <a:buSzPct val="100000"/>
              <a:buChar char="•"/>
            </a:pPr>
            <a:r>
              <a:rPr lang="en-US" sz="1200" dirty="0">
                <a:solidFill>
                  <a:srgbClr val="1A2A4A"/>
                </a:solidFill>
                <a:latin typeface="Calibri" pitchFamily="34" charset="0"/>
                <a:ea typeface="Calibri" pitchFamily="34" charset="-122"/>
                <a:cs typeface="Calibri" pitchFamily="34" charset="-120"/>
              </a:rPr>
              <a:t>Guides ICT professionals in ethical decision-making</a:t>
            </a:r>
            <a:endParaRPr lang="en-US" sz="1200" dirty="0"/>
          </a:p>
          <a:p>
            <a:pPr marL="342900" indent="-342900">
              <a:spcAft>
                <a:spcPts val="600"/>
              </a:spcAft>
              <a:buSzPct val="100000"/>
              <a:buChar char="•"/>
            </a:pPr>
            <a:r>
              <a:rPr lang="en-US" sz="1200" dirty="0">
                <a:solidFill>
                  <a:srgbClr val="1A2A4A"/>
                </a:solidFill>
                <a:latin typeface="Calibri" pitchFamily="34" charset="0"/>
                <a:ea typeface="Calibri" pitchFamily="34" charset="-122"/>
                <a:cs typeface="Calibri" pitchFamily="34" charset="-120"/>
              </a:rPr>
              <a:t>Applies to all stages of software development</a:t>
            </a:r>
            <a:endParaRPr lang="en-US" sz="1200" dirty="0"/>
          </a:p>
          <a:p>
            <a:pPr marL="342900" indent="-342900">
              <a:spcAft>
                <a:spcPts val="600"/>
              </a:spcAft>
              <a:buSzPct val="100000"/>
              <a:buChar char="•"/>
            </a:pPr>
            <a:r>
              <a:rPr lang="en-US" sz="1200" dirty="0">
                <a:solidFill>
                  <a:srgbClr val="1A2A4A"/>
                </a:solidFill>
                <a:latin typeface="Calibri" pitchFamily="34" charset="0"/>
                <a:ea typeface="Calibri" pitchFamily="34" charset="-122"/>
                <a:cs typeface="Calibri" pitchFamily="34" charset="-120"/>
              </a:rPr>
              <a:t>Revised regularly to reflect modern technology challenges</a:t>
            </a:r>
            <a:endParaRPr lang="en-US" sz="1200" dirty="0"/>
          </a:p>
          <a:p>
            <a:pPr marL="342900" indent="-342900">
              <a:spcAft>
                <a:spcPts val="600"/>
              </a:spcAft>
              <a:buSzPct val="100000"/>
              <a:buChar char="•"/>
            </a:pPr>
            <a:r>
              <a:rPr lang="en-US" sz="1200" dirty="0">
                <a:solidFill>
                  <a:srgbClr val="1A2A4A"/>
                </a:solidFill>
                <a:latin typeface="Calibri" pitchFamily="34" charset="0"/>
                <a:ea typeface="Calibri" pitchFamily="34" charset="-122"/>
                <a:cs typeface="Calibri" pitchFamily="34" charset="-120"/>
              </a:rPr>
              <a:t>Mandatory for ACS-certified professionals</a:t>
            </a:r>
            <a:endParaRPr lang="en-US" sz="1200" dirty="0"/>
          </a:p>
        </p:txBody>
      </p:sp>
      <p:sp>
        <p:nvSpPr>
          <p:cNvPr id="10" name="Shape 8"/>
          <p:cNvSpPr/>
          <p:nvPr/>
        </p:nvSpPr>
        <p:spPr>
          <a:xfrm>
            <a:off x="4617720" y="914400"/>
            <a:ext cx="2011680" cy="1554480"/>
          </a:xfrm>
          <a:prstGeom prst="rect">
            <a:avLst/>
          </a:prstGeom>
          <a:solidFill>
            <a:srgbClr val="FFFFFF"/>
          </a:solidFill>
          <a:ln/>
          <a:effectLst>
            <a:outerShdw blurRad="76200" dist="25400" dir="8100000" algn="bl" rotWithShape="0">
              <a:srgbClr val="000000">
                <a:alpha val="10000"/>
              </a:srgbClr>
            </a:outerShdw>
          </a:effectLst>
        </p:spPr>
      </p:sp>
      <p:sp>
        <p:nvSpPr>
          <p:cNvPr id="11" name="Shape 9"/>
          <p:cNvSpPr/>
          <p:nvPr/>
        </p:nvSpPr>
        <p:spPr>
          <a:xfrm>
            <a:off x="4617720" y="914400"/>
            <a:ext cx="2011680" cy="82296"/>
          </a:xfrm>
          <a:prstGeom prst="rect">
            <a:avLst/>
          </a:prstGeom>
          <a:solidFill>
            <a:srgbClr val="3B82F6"/>
          </a:solidFill>
          <a:ln w="12700">
            <a:solidFill>
              <a:srgbClr val="3B82F6"/>
            </a:solidFill>
            <a:prstDash val="solid"/>
          </a:ln>
        </p:spPr>
      </p:sp>
      <p:pic>
        <p:nvPicPr>
          <p:cNvPr id="12" name="Image 0" descr="preencoded.png"/>
          <p:cNvPicPr>
            <a:picLocks noChangeAspect="1"/>
          </p:cNvPicPr>
          <p:nvPr/>
        </p:nvPicPr>
        <p:blipFill>
          <a:blip r:embed="rId3"/>
          <a:stretch>
            <a:fillRect/>
          </a:stretch>
        </p:blipFill>
        <p:spPr>
          <a:xfrm>
            <a:off x="4709160" y="1097280"/>
            <a:ext cx="365760" cy="365760"/>
          </a:xfrm>
          <a:prstGeom prst="rect">
            <a:avLst/>
          </a:prstGeom>
        </p:spPr>
      </p:pic>
      <p:sp>
        <p:nvSpPr>
          <p:cNvPr id="13" name="Text 10"/>
          <p:cNvSpPr/>
          <p:nvPr/>
        </p:nvSpPr>
        <p:spPr>
          <a:xfrm>
            <a:off x="4709160" y="1572768"/>
            <a:ext cx="1828800" cy="685800"/>
          </a:xfrm>
          <a:prstGeom prst="rect">
            <a:avLst/>
          </a:prstGeom>
          <a:noFill/>
          <a:ln/>
        </p:spPr>
        <p:txBody>
          <a:bodyPr wrap="square"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Primacy of the Public Interest</a:t>
            </a:r>
            <a:endParaRPr lang="en-US" sz="1000" dirty="0"/>
          </a:p>
        </p:txBody>
      </p:sp>
      <p:sp>
        <p:nvSpPr>
          <p:cNvPr id="14" name="Shape 11"/>
          <p:cNvSpPr/>
          <p:nvPr/>
        </p:nvSpPr>
        <p:spPr>
          <a:xfrm>
            <a:off x="6793992" y="914400"/>
            <a:ext cx="2011680" cy="155448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793992" y="914400"/>
            <a:ext cx="2011680" cy="82296"/>
          </a:xfrm>
          <a:prstGeom prst="rect">
            <a:avLst/>
          </a:prstGeom>
          <a:solidFill>
            <a:srgbClr val="8B5CF6"/>
          </a:solidFill>
          <a:ln w="12700">
            <a:solidFill>
              <a:srgbClr val="8B5CF6"/>
            </a:solidFill>
            <a:prstDash val="solid"/>
          </a:ln>
        </p:spPr>
      </p:sp>
      <p:pic>
        <p:nvPicPr>
          <p:cNvPr id="16" name="Image 1" descr="preencoded.png"/>
          <p:cNvPicPr>
            <a:picLocks noChangeAspect="1"/>
          </p:cNvPicPr>
          <p:nvPr/>
        </p:nvPicPr>
        <p:blipFill>
          <a:blip r:embed="rId4"/>
          <a:stretch>
            <a:fillRect/>
          </a:stretch>
        </p:blipFill>
        <p:spPr>
          <a:xfrm>
            <a:off x="6885432" y="1097280"/>
            <a:ext cx="365760" cy="365760"/>
          </a:xfrm>
          <a:prstGeom prst="rect">
            <a:avLst/>
          </a:prstGeom>
        </p:spPr>
      </p:pic>
      <p:sp>
        <p:nvSpPr>
          <p:cNvPr id="17" name="Text 13"/>
          <p:cNvSpPr/>
          <p:nvPr/>
        </p:nvSpPr>
        <p:spPr>
          <a:xfrm>
            <a:off x="6885432" y="1572768"/>
            <a:ext cx="1828800" cy="685800"/>
          </a:xfrm>
          <a:prstGeom prst="rect">
            <a:avLst/>
          </a:prstGeom>
          <a:noFill/>
          <a:ln/>
        </p:spPr>
        <p:txBody>
          <a:bodyPr wrap="square"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Enhancement of Quality of Life</a:t>
            </a:r>
            <a:endParaRPr lang="en-US" sz="1000" dirty="0"/>
          </a:p>
        </p:txBody>
      </p:sp>
      <p:sp>
        <p:nvSpPr>
          <p:cNvPr id="18" name="Shape 14"/>
          <p:cNvSpPr/>
          <p:nvPr/>
        </p:nvSpPr>
        <p:spPr>
          <a:xfrm>
            <a:off x="4617720" y="2697480"/>
            <a:ext cx="2011680" cy="1554480"/>
          </a:xfrm>
          <a:prstGeom prst="rect">
            <a:avLst/>
          </a:prstGeom>
          <a:solidFill>
            <a:srgbClr val="FFFFFF"/>
          </a:solidFill>
          <a:ln/>
          <a:effectLst>
            <a:outerShdw blurRad="76200" dist="25400" dir="8100000" algn="bl" rotWithShape="0">
              <a:srgbClr val="000000">
                <a:alpha val="10000"/>
              </a:srgbClr>
            </a:outerShdw>
          </a:effectLst>
        </p:spPr>
      </p:sp>
      <p:sp>
        <p:nvSpPr>
          <p:cNvPr id="19" name="Shape 15"/>
          <p:cNvSpPr/>
          <p:nvPr/>
        </p:nvSpPr>
        <p:spPr>
          <a:xfrm>
            <a:off x="4617720" y="2697480"/>
            <a:ext cx="2011680" cy="82296"/>
          </a:xfrm>
          <a:prstGeom prst="rect">
            <a:avLst/>
          </a:prstGeom>
          <a:solidFill>
            <a:srgbClr val="0D9488"/>
          </a:solidFill>
          <a:ln w="12700">
            <a:solidFill>
              <a:srgbClr val="0D9488"/>
            </a:solidFill>
            <a:prstDash val="solid"/>
          </a:ln>
        </p:spPr>
      </p:sp>
      <p:pic>
        <p:nvPicPr>
          <p:cNvPr id="20" name="Image 2" descr="preencoded.png"/>
          <p:cNvPicPr>
            <a:picLocks noChangeAspect="1"/>
          </p:cNvPicPr>
          <p:nvPr/>
        </p:nvPicPr>
        <p:blipFill>
          <a:blip r:embed="rId5"/>
          <a:stretch>
            <a:fillRect/>
          </a:stretch>
        </p:blipFill>
        <p:spPr>
          <a:xfrm>
            <a:off x="4709160" y="2880360"/>
            <a:ext cx="365760" cy="365760"/>
          </a:xfrm>
          <a:prstGeom prst="rect">
            <a:avLst/>
          </a:prstGeom>
        </p:spPr>
      </p:pic>
      <p:sp>
        <p:nvSpPr>
          <p:cNvPr id="21" name="Text 16"/>
          <p:cNvSpPr/>
          <p:nvPr/>
        </p:nvSpPr>
        <p:spPr>
          <a:xfrm>
            <a:off x="4709160" y="3355848"/>
            <a:ext cx="1828800" cy="685800"/>
          </a:xfrm>
          <a:prstGeom prst="rect">
            <a:avLst/>
          </a:prstGeom>
          <a:noFill/>
          <a:ln/>
        </p:spPr>
        <p:txBody>
          <a:bodyPr wrap="square"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Honesty &amp; Competence</a:t>
            </a:r>
            <a:endParaRPr lang="en-US" sz="1000" dirty="0"/>
          </a:p>
        </p:txBody>
      </p:sp>
      <p:sp>
        <p:nvSpPr>
          <p:cNvPr id="22" name="Shape 17"/>
          <p:cNvSpPr/>
          <p:nvPr/>
        </p:nvSpPr>
        <p:spPr>
          <a:xfrm>
            <a:off x="6793992" y="2697480"/>
            <a:ext cx="2011680" cy="1554480"/>
          </a:xfrm>
          <a:prstGeom prst="rect">
            <a:avLst/>
          </a:prstGeom>
          <a:solidFill>
            <a:srgbClr val="FFFFFF"/>
          </a:solidFill>
          <a:ln/>
          <a:effectLst>
            <a:outerShdw blurRad="76200" dist="25400" dir="8100000" algn="bl" rotWithShape="0">
              <a:srgbClr val="000000">
                <a:alpha val="10000"/>
              </a:srgbClr>
            </a:outerShdw>
          </a:effectLst>
        </p:spPr>
      </p:sp>
      <p:sp>
        <p:nvSpPr>
          <p:cNvPr id="23" name="Shape 18"/>
          <p:cNvSpPr/>
          <p:nvPr/>
        </p:nvSpPr>
        <p:spPr>
          <a:xfrm>
            <a:off x="6793992" y="2697480"/>
            <a:ext cx="2011680" cy="82296"/>
          </a:xfrm>
          <a:prstGeom prst="rect">
            <a:avLst/>
          </a:prstGeom>
          <a:solidFill>
            <a:srgbClr val="EF4444"/>
          </a:solidFill>
          <a:ln w="12700">
            <a:solidFill>
              <a:srgbClr val="EF4444"/>
            </a:solidFill>
            <a:prstDash val="solid"/>
          </a:ln>
        </p:spPr>
      </p:sp>
      <p:pic>
        <p:nvPicPr>
          <p:cNvPr id="24" name="Image 3" descr="preencoded.png"/>
          <p:cNvPicPr>
            <a:picLocks noChangeAspect="1"/>
          </p:cNvPicPr>
          <p:nvPr/>
        </p:nvPicPr>
        <p:blipFill>
          <a:blip r:embed="rId6"/>
          <a:stretch>
            <a:fillRect/>
          </a:stretch>
        </p:blipFill>
        <p:spPr>
          <a:xfrm>
            <a:off x="6885432" y="2880360"/>
            <a:ext cx="365760" cy="365760"/>
          </a:xfrm>
          <a:prstGeom prst="rect">
            <a:avLst/>
          </a:prstGeom>
        </p:spPr>
      </p:pic>
      <p:sp>
        <p:nvSpPr>
          <p:cNvPr id="25" name="Text 19"/>
          <p:cNvSpPr/>
          <p:nvPr/>
        </p:nvSpPr>
        <p:spPr>
          <a:xfrm>
            <a:off x="6885432" y="3355848"/>
            <a:ext cx="1828800" cy="685800"/>
          </a:xfrm>
          <a:prstGeom prst="rect">
            <a:avLst/>
          </a:prstGeom>
          <a:noFill/>
          <a:ln/>
        </p:spPr>
        <p:txBody>
          <a:bodyPr wrap="square" rtlCol="0" anchor="ctr"/>
          <a:lstStyle/>
          <a:p>
            <a:pPr marL="0" indent="0">
              <a:buNone/>
            </a:pPr>
            <a:r>
              <a:rPr lang="en-US" sz="1000" b="1" dirty="0">
                <a:solidFill>
                  <a:srgbClr val="1A2A4A"/>
                </a:solidFill>
                <a:latin typeface="Calibri" pitchFamily="34" charset="0"/>
                <a:ea typeface="Calibri" pitchFamily="34" charset="-122"/>
                <a:cs typeface="Calibri" pitchFamily="34" charset="-120"/>
              </a:rPr>
              <a:t>Professionalism &amp; Privacy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5A623"/>
          </a:solidFill>
          <a:ln w="12700">
            <a:solidFill>
              <a:srgbClr val="F5A623"/>
            </a:solidFill>
            <a:prstDash val="solid"/>
          </a:ln>
        </p:spPr>
      </p:sp>
      <p:sp>
        <p:nvSpPr>
          <p:cNvPr id="3" name="Shape 1"/>
          <p:cNvSpPr/>
          <p:nvPr/>
        </p:nvSpPr>
        <p:spPr>
          <a:xfrm>
            <a:off x="8412480" y="228600"/>
            <a:ext cx="457200" cy="457200"/>
          </a:xfrm>
          <a:prstGeom prst="ellipse">
            <a:avLst/>
          </a:prstGeom>
          <a:solidFill>
            <a:srgbClr val="F5A623"/>
          </a:solidFill>
          <a:ln w="12700">
            <a:solidFill>
              <a:srgbClr val="F5A623"/>
            </a:solidFill>
            <a:prstDash val="solid"/>
          </a:ln>
        </p:spPr>
      </p:sp>
      <p:sp>
        <p:nvSpPr>
          <p:cNvPr id="4" name="Text 2"/>
          <p:cNvSpPr/>
          <p:nvPr/>
        </p:nvSpPr>
        <p:spPr>
          <a:xfrm>
            <a:off x="8412480" y="228600"/>
            <a:ext cx="457200" cy="457200"/>
          </a:xfrm>
          <a:prstGeom prst="rect">
            <a:avLst/>
          </a:prstGeom>
          <a:noFill/>
          <a:ln/>
        </p:spPr>
        <p:txBody>
          <a:bodyPr wrap="square" lIns="0" tIns="0" rIns="0" bIns="0" rtlCol="0" anchor="ctr"/>
          <a:lstStyle/>
          <a:p>
            <a:pPr marL="0" indent="0" algn="ctr">
              <a:buNone/>
            </a:pPr>
            <a:r>
              <a:rPr lang="en-US" sz="1200" b="1" dirty="0">
                <a:solidFill>
                  <a:srgbClr val="1A2A4A"/>
                </a:solidFill>
              </a:rPr>
              <a:t>3</a:t>
            </a:r>
            <a:endParaRPr lang="en-US" sz="1200" dirty="0"/>
          </a:p>
        </p:txBody>
      </p:sp>
      <p:sp>
        <p:nvSpPr>
          <p:cNvPr id="5" name="Text 3"/>
          <p:cNvSpPr/>
          <p:nvPr/>
        </p:nvSpPr>
        <p:spPr>
          <a:xfrm>
            <a:off x="365760" y="164592"/>
            <a:ext cx="786384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Core Ethical Principles in Software Development</a:t>
            </a:r>
            <a:endParaRPr lang="en-US" sz="2400" dirty="0"/>
          </a:p>
        </p:txBody>
      </p:sp>
      <p:sp>
        <p:nvSpPr>
          <p:cNvPr id="6" name="Shape 4"/>
          <p:cNvSpPr/>
          <p:nvPr/>
        </p:nvSpPr>
        <p:spPr>
          <a:xfrm>
            <a:off x="274320" y="868680"/>
            <a:ext cx="4160520" cy="1828800"/>
          </a:xfrm>
          <a:prstGeom prst="rect">
            <a:avLst/>
          </a:prstGeom>
          <a:solidFill>
            <a:srgbClr val="1E3A6E"/>
          </a:solidFill>
          <a:ln/>
          <a:effectLst>
            <a:outerShdw blurRad="101600" dist="38100" dir="8100000" algn="bl" rotWithShape="0">
              <a:srgbClr val="000000">
                <a:alpha val="20000"/>
              </a:srgbClr>
            </a:outerShdw>
          </a:effectLst>
        </p:spPr>
      </p:sp>
      <p:sp>
        <p:nvSpPr>
          <p:cNvPr id="7" name="Shape 5"/>
          <p:cNvSpPr/>
          <p:nvPr/>
        </p:nvSpPr>
        <p:spPr>
          <a:xfrm>
            <a:off x="274320" y="868680"/>
            <a:ext cx="73152" cy="1828800"/>
          </a:xfrm>
          <a:prstGeom prst="rect">
            <a:avLst/>
          </a:prstGeom>
          <a:solidFill>
            <a:srgbClr val="3B82F6"/>
          </a:solidFill>
          <a:ln w="12700">
            <a:solidFill>
              <a:srgbClr val="3B82F6"/>
            </a:solidFill>
            <a:prstDash val="solid"/>
          </a:ln>
        </p:spPr>
      </p:sp>
      <p:sp>
        <p:nvSpPr>
          <p:cNvPr id="8" name="Text 6"/>
          <p:cNvSpPr/>
          <p:nvPr/>
        </p:nvSpPr>
        <p:spPr>
          <a:xfrm>
            <a:off x="411480" y="960120"/>
            <a:ext cx="38862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Privacy</a:t>
            </a:r>
            <a:endParaRPr lang="en-US" sz="1300" dirty="0"/>
          </a:p>
        </p:txBody>
      </p:sp>
      <p:sp>
        <p:nvSpPr>
          <p:cNvPr id="9" name="Text 7"/>
          <p:cNvSpPr/>
          <p:nvPr/>
        </p:nvSpPr>
        <p:spPr>
          <a:xfrm>
            <a:off x="457200" y="1371600"/>
            <a:ext cx="3840480" cy="1188720"/>
          </a:xfrm>
          <a:prstGeom prst="rect">
            <a:avLst/>
          </a:prstGeom>
          <a:noFill/>
          <a:ln/>
        </p:spPr>
        <p:txBody>
          <a:bodyPr wrap="square" rtlCol="0" anchor="ctr"/>
          <a:lstStyle/>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Protect user personal data</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Comply with data protection laws</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Minimise data collection</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Obtain informed user consent</a:t>
            </a:r>
            <a:endParaRPr lang="en-US" sz="1050" dirty="0"/>
          </a:p>
        </p:txBody>
      </p:sp>
      <p:sp>
        <p:nvSpPr>
          <p:cNvPr id="10" name="Shape 8"/>
          <p:cNvSpPr/>
          <p:nvPr/>
        </p:nvSpPr>
        <p:spPr>
          <a:xfrm>
            <a:off x="4709160" y="868680"/>
            <a:ext cx="4160520" cy="1828800"/>
          </a:xfrm>
          <a:prstGeom prst="rect">
            <a:avLst/>
          </a:prstGeom>
          <a:solidFill>
            <a:srgbClr val="1E3A6E"/>
          </a:solidFill>
          <a:ln/>
          <a:effectLst>
            <a:outerShdw blurRad="101600" dist="38100" dir="8100000" algn="bl" rotWithShape="0">
              <a:srgbClr val="000000">
                <a:alpha val="20000"/>
              </a:srgbClr>
            </a:outerShdw>
          </a:effectLst>
        </p:spPr>
      </p:sp>
      <p:sp>
        <p:nvSpPr>
          <p:cNvPr id="11" name="Shape 9"/>
          <p:cNvSpPr/>
          <p:nvPr/>
        </p:nvSpPr>
        <p:spPr>
          <a:xfrm>
            <a:off x="4709160" y="868680"/>
            <a:ext cx="73152" cy="1828800"/>
          </a:xfrm>
          <a:prstGeom prst="rect">
            <a:avLst/>
          </a:prstGeom>
          <a:solidFill>
            <a:srgbClr val="10B981"/>
          </a:solidFill>
          <a:ln w="12700">
            <a:solidFill>
              <a:srgbClr val="10B981"/>
            </a:solidFill>
            <a:prstDash val="solid"/>
          </a:ln>
        </p:spPr>
      </p:sp>
      <p:sp>
        <p:nvSpPr>
          <p:cNvPr id="12" name="Text 10"/>
          <p:cNvSpPr/>
          <p:nvPr/>
        </p:nvSpPr>
        <p:spPr>
          <a:xfrm>
            <a:off x="4846320" y="960120"/>
            <a:ext cx="38862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Security</a:t>
            </a:r>
            <a:endParaRPr lang="en-US" sz="1300" dirty="0"/>
          </a:p>
        </p:txBody>
      </p:sp>
      <p:sp>
        <p:nvSpPr>
          <p:cNvPr id="13" name="Text 11"/>
          <p:cNvSpPr/>
          <p:nvPr/>
        </p:nvSpPr>
        <p:spPr>
          <a:xfrm>
            <a:off x="4892040" y="1371600"/>
            <a:ext cx="3840480" cy="1188720"/>
          </a:xfrm>
          <a:prstGeom prst="rect">
            <a:avLst/>
          </a:prstGeom>
          <a:noFill/>
          <a:ln/>
        </p:spPr>
        <p:txBody>
          <a:bodyPr wrap="square" rtlCol="0" anchor="ctr"/>
          <a:lstStyle/>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Implement secure coding standards</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Conduct regular vulnerability testing</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Encrypt sensitive information</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Patch and update systems promptly</a:t>
            </a:r>
            <a:endParaRPr lang="en-US" sz="1050" dirty="0"/>
          </a:p>
        </p:txBody>
      </p:sp>
      <p:sp>
        <p:nvSpPr>
          <p:cNvPr id="14" name="Shape 12"/>
          <p:cNvSpPr/>
          <p:nvPr/>
        </p:nvSpPr>
        <p:spPr>
          <a:xfrm>
            <a:off x="274320" y="2880360"/>
            <a:ext cx="4160520" cy="1828800"/>
          </a:xfrm>
          <a:prstGeom prst="rect">
            <a:avLst/>
          </a:prstGeom>
          <a:solidFill>
            <a:srgbClr val="1E3A6E"/>
          </a:solidFill>
          <a:ln/>
          <a:effectLst>
            <a:outerShdw blurRad="101600" dist="38100" dir="8100000" algn="bl" rotWithShape="0">
              <a:srgbClr val="000000">
                <a:alpha val="20000"/>
              </a:srgbClr>
            </a:outerShdw>
          </a:effectLst>
        </p:spPr>
      </p:sp>
      <p:sp>
        <p:nvSpPr>
          <p:cNvPr id="15" name="Shape 13"/>
          <p:cNvSpPr/>
          <p:nvPr/>
        </p:nvSpPr>
        <p:spPr>
          <a:xfrm>
            <a:off x="274320" y="2880360"/>
            <a:ext cx="73152" cy="1828800"/>
          </a:xfrm>
          <a:prstGeom prst="rect">
            <a:avLst/>
          </a:prstGeom>
          <a:solidFill>
            <a:srgbClr val="8B5CF6"/>
          </a:solidFill>
          <a:ln w="12700">
            <a:solidFill>
              <a:srgbClr val="8B5CF6"/>
            </a:solidFill>
            <a:prstDash val="solid"/>
          </a:ln>
        </p:spPr>
      </p:sp>
      <p:sp>
        <p:nvSpPr>
          <p:cNvPr id="16" name="Text 14"/>
          <p:cNvSpPr/>
          <p:nvPr/>
        </p:nvSpPr>
        <p:spPr>
          <a:xfrm>
            <a:off x="411480" y="2971800"/>
            <a:ext cx="38862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Competence</a:t>
            </a:r>
            <a:endParaRPr lang="en-US" sz="1300" dirty="0"/>
          </a:p>
        </p:txBody>
      </p:sp>
      <p:sp>
        <p:nvSpPr>
          <p:cNvPr id="17" name="Text 15"/>
          <p:cNvSpPr/>
          <p:nvPr/>
        </p:nvSpPr>
        <p:spPr>
          <a:xfrm>
            <a:off x="457200" y="3383280"/>
            <a:ext cx="3840480" cy="1188720"/>
          </a:xfrm>
          <a:prstGeom prst="rect">
            <a:avLst/>
          </a:prstGeom>
          <a:noFill/>
          <a:ln/>
        </p:spPr>
        <p:txBody>
          <a:bodyPr wrap="square" rtlCol="0" anchor="ctr"/>
          <a:lstStyle/>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Maintain up-to-date technical skills</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Acknowledge limitations honestly</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Commit to lifelong learning</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Deliver quality, tested software</a:t>
            </a:r>
            <a:endParaRPr lang="en-US" sz="1050" dirty="0"/>
          </a:p>
        </p:txBody>
      </p:sp>
      <p:sp>
        <p:nvSpPr>
          <p:cNvPr id="18" name="Shape 16"/>
          <p:cNvSpPr/>
          <p:nvPr/>
        </p:nvSpPr>
        <p:spPr>
          <a:xfrm>
            <a:off x="4709160" y="2880360"/>
            <a:ext cx="4160520" cy="1828800"/>
          </a:xfrm>
          <a:prstGeom prst="rect">
            <a:avLst/>
          </a:prstGeom>
          <a:solidFill>
            <a:srgbClr val="1E3A6E"/>
          </a:solidFill>
          <a:ln/>
          <a:effectLst>
            <a:outerShdw blurRad="101600" dist="38100" dir="8100000" algn="bl" rotWithShape="0">
              <a:srgbClr val="000000">
                <a:alpha val="20000"/>
              </a:srgbClr>
            </a:outerShdw>
          </a:effectLst>
        </p:spPr>
      </p:sp>
      <p:sp>
        <p:nvSpPr>
          <p:cNvPr id="19" name="Shape 17"/>
          <p:cNvSpPr/>
          <p:nvPr/>
        </p:nvSpPr>
        <p:spPr>
          <a:xfrm>
            <a:off x="4709160" y="2880360"/>
            <a:ext cx="73152" cy="1828800"/>
          </a:xfrm>
          <a:prstGeom prst="rect">
            <a:avLst/>
          </a:prstGeom>
          <a:solidFill>
            <a:srgbClr val="F59E0B"/>
          </a:solidFill>
          <a:ln w="12700">
            <a:solidFill>
              <a:srgbClr val="F59E0B"/>
            </a:solidFill>
            <a:prstDash val="solid"/>
          </a:ln>
        </p:spPr>
      </p:sp>
      <p:sp>
        <p:nvSpPr>
          <p:cNvPr id="20" name="Text 18"/>
          <p:cNvSpPr/>
          <p:nvPr/>
        </p:nvSpPr>
        <p:spPr>
          <a:xfrm>
            <a:off x="4846320" y="2971800"/>
            <a:ext cx="38862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Honesty</a:t>
            </a:r>
            <a:endParaRPr lang="en-US" sz="1300" dirty="0"/>
          </a:p>
        </p:txBody>
      </p:sp>
      <p:sp>
        <p:nvSpPr>
          <p:cNvPr id="21" name="Text 19"/>
          <p:cNvSpPr/>
          <p:nvPr/>
        </p:nvSpPr>
        <p:spPr>
          <a:xfrm>
            <a:off x="4892040" y="3383280"/>
            <a:ext cx="3840480" cy="1188720"/>
          </a:xfrm>
          <a:prstGeom prst="rect">
            <a:avLst/>
          </a:prstGeom>
          <a:noFill/>
          <a:ln/>
        </p:spPr>
        <p:txBody>
          <a:bodyPr wrap="square" rtlCol="0" anchor="ctr"/>
          <a:lstStyle/>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Provide transparent project updates</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Report bugs and risks truthfully</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Avoid misleading stakeholders</a:t>
            </a:r>
            <a:endParaRPr lang="en-US" sz="1050" dirty="0"/>
          </a:p>
          <a:p>
            <a:pPr marL="342900" indent="-342900">
              <a:spcAft>
                <a:spcPts val="300"/>
              </a:spcAft>
              <a:buSzPct val="100000"/>
              <a:buChar char="•"/>
            </a:pPr>
            <a:r>
              <a:rPr lang="en-US" sz="1050" dirty="0">
                <a:solidFill>
                  <a:srgbClr val="CBD5E1"/>
                </a:solidFill>
                <a:latin typeface="Calibri" pitchFamily="34" charset="0"/>
                <a:ea typeface="Calibri" pitchFamily="34" charset="-122"/>
                <a:cs typeface="Calibri" pitchFamily="34" charset="-120"/>
              </a:rPr>
              <a:t>Document decisions accurately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A2A4A"/>
          </a:solidFill>
          <a:ln w="12700">
            <a:solidFill>
              <a:srgbClr val="1A2A4A"/>
            </a:solidFill>
            <a:prstDash val="solid"/>
          </a:ln>
        </p:spPr>
      </p:sp>
      <p:sp>
        <p:nvSpPr>
          <p:cNvPr id="3" name="Shape 1"/>
          <p:cNvSpPr/>
          <p:nvPr/>
        </p:nvSpPr>
        <p:spPr>
          <a:xfrm>
            <a:off x="8412480" y="228600"/>
            <a:ext cx="457200" cy="457200"/>
          </a:xfrm>
          <a:prstGeom prst="ellipse">
            <a:avLst/>
          </a:prstGeom>
          <a:solidFill>
            <a:srgbClr val="1A2A4A"/>
          </a:solidFill>
          <a:ln w="12700">
            <a:solidFill>
              <a:srgbClr val="1A2A4A"/>
            </a:solidFill>
            <a:prstDash val="solid"/>
          </a:ln>
        </p:spPr>
      </p:sp>
      <p:sp>
        <p:nvSpPr>
          <p:cNvPr id="4" name="Text 2"/>
          <p:cNvSpPr/>
          <p:nvPr/>
        </p:nvSpPr>
        <p:spPr>
          <a:xfrm>
            <a:off x="8412480" y="22860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5" name="Text 3"/>
          <p:cNvSpPr/>
          <p:nvPr/>
        </p:nvSpPr>
        <p:spPr>
          <a:xfrm>
            <a:off x="365760" y="182880"/>
            <a:ext cx="7863840" cy="548640"/>
          </a:xfrm>
          <a:prstGeom prst="rect">
            <a:avLst/>
          </a:prstGeom>
          <a:noFill/>
          <a:ln/>
        </p:spPr>
        <p:txBody>
          <a:bodyPr wrap="square" rtlCol="0" anchor="ctr"/>
          <a:lstStyle/>
          <a:p>
            <a:pPr marL="0" indent="0">
              <a:buNone/>
            </a:pPr>
            <a:r>
              <a:rPr lang="en-US" sz="2200" b="1" dirty="0">
                <a:solidFill>
                  <a:srgbClr val="1A2A4A"/>
                </a:solidFill>
                <a:latin typeface="Calibri" pitchFamily="34" charset="0"/>
                <a:ea typeface="Calibri" pitchFamily="34" charset="-122"/>
                <a:cs typeface="Calibri" pitchFamily="34" charset="-120"/>
              </a:rPr>
              <a:t>Real-World Example: The Facebook–Cambridge Analytica Case</a:t>
            </a:r>
            <a:endParaRPr lang="en-US" sz="2200" dirty="0"/>
          </a:p>
        </p:txBody>
      </p:sp>
      <p:sp>
        <p:nvSpPr>
          <p:cNvPr id="6" name="Shape 4"/>
          <p:cNvSpPr/>
          <p:nvPr/>
        </p:nvSpPr>
        <p:spPr>
          <a:xfrm>
            <a:off x="320040" y="896112"/>
            <a:ext cx="4114800" cy="3520440"/>
          </a:xfrm>
          <a:prstGeom prst="rect">
            <a:avLst/>
          </a:prstGeom>
          <a:solidFill>
            <a:srgbClr val="FFFFFF"/>
          </a:solidFill>
          <a:ln/>
          <a:effectLst>
            <a:outerShdw blurRad="101600" dist="25400" dir="8100000" algn="bl" rotWithShape="0">
              <a:srgbClr val="000000">
                <a:alpha val="8000"/>
              </a:srgbClr>
            </a:outerShdw>
          </a:effectLst>
        </p:spPr>
      </p:sp>
      <p:sp>
        <p:nvSpPr>
          <p:cNvPr id="7" name="Shape 5"/>
          <p:cNvSpPr/>
          <p:nvPr/>
        </p:nvSpPr>
        <p:spPr>
          <a:xfrm>
            <a:off x="320040" y="896112"/>
            <a:ext cx="4114800" cy="457200"/>
          </a:xfrm>
          <a:prstGeom prst="rect">
            <a:avLst/>
          </a:prstGeom>
          <a:solidFill>
            <a:srgbClr val="EF4444"/>
          </a:solidFill>
          <a:ln w="12700">
            <a:solidFill>
              <a:srgbClr val="EF4444"/>
            </a:solidFill>
            <a:prstDash val="solid"/>
          </a:ln>
        </p:spPr>
      </p:sp>
      <p:pic>
        <p:nvPicPr>
          <p:cNvPr id="8" name="Image 0" descr="preencoded.png"/>
          <p:cNvPicPr>
            <a:picLocks noChangeAspect="1"/>
          </p:cNvPicPr>
          <p:nvPr/>
        </p:nvPicPr>
        <p:blipFill>
          <a:blip r:embed="rId3"/>
          <a:stretch>
            <a:fillRect/>
          </a:stretch>
        </p:blipFill>
        <p:spPr>
          <a:xfrm>
            <a:off x="411480" y="914400"/>
            <a:ext cx="320040" cy="320040"/>
          </a:xfrm>
          <a:prstGeom prst="rect">
            <a:avLst/>
          </a:prstGeom>
        </p:spPr>
      </p:pic>
      <p:sp>
        <p:nvSpPr>
          <p:cNvPr id="9" name="Text 6"/>
          <p:cNvSpPr/>
          <p:nvPr/>
        </p:nvSpPr>
        <p:spPr>
          <a:xfrm>
            <a:off x="822960" y="896112"/>
            <a:ext cx="3474720" cy="457200"/>
          </a:xfrm>
          <a:prstGeom prst="rect">
            <a:avLst/>
          </a:prstGeom>
          <a:noFill/>
          <a:ln/>
        </p:spPr>
        <p:txBody>
          <a:bodyPr wrap="square" lIns="0" tIns="0" rIns="0" bIns="0" rtlCol="0" anchor="ctr"/>
          <a:lstStyle/>
          <a:p>
            <a:pPr marL="0" indent="0">
              <a:buNone/>
            </a:pPr>
            <a:r>
              <a:rPr lang="en-US" sz="1300" b="1" dirty="0">
                <a:solidFill>
                  <a:srgbClr val="FFFFFF"/>
                </a:solidFill>
              </a:rPr>
              <a:t>What Went Wrong?</a:t>
            </a:r>
            <a:endParaRPr lang="en-US" sz="1300" dirty="0"/>
          </a:p>
        </p:txBody>
      </p:sp>
      <p:sp>
        <p:nvSpPr>
          <p:cNvPr id="10" name="Text 7"/>
          <p:cNvSpPr/>
          <p:nvPr/>
        </p:nvSpPr>
        <p:spPr>
          <a:xfrm>
            <a:off x="457200" y="1463040"/>
            <a:ext cx="3794760" cy="2834640"/>
          </a:xfrm>
          <a:prstGeom prst="rect">
            <a:avLst/>
          </a:prstGeom>
          <a:noFill/>
          <a:ln/>
        </p:spPr>
        <p:txBody>
          <a:bodyPr wrap="square" rtlCol="0" anchor="ctr"/>
          <a:lstStyle/>
          <a:p>
            <a:pPr marL="342900" indent="-342900">
              <a:spcAft>
                <a:spcPts val="700"/>
              </a:spcAft>
              <a:buSzPct val="100000"/>
              <a:buChar char="•"/>
            </a:pPr>
            <a:r>
              <a:rPr lang="en-US" sz="1100" dirty="0">
                <a:solidFill>
                  <a:srgbClr val="1A2A4A"/>
                </a:solidFill>
                <a:latin typeface="Calibri" pitchFamily="34" charset="0"/>
                <a:ea typeface="Calibri" pitchFamily="34" charset="-122"/>
                <a:cs typeface="Calibri" pitchFamily="34" charset="-120"/>
              </a:rPr>
              <a:t>87 million Facebook users' data was harvested without explicit consent</a:t>
            </a:r>
            <a:endParaRPr lang="en-US" sz="1100" dirty="0"/>
          </a:p>
          <a:p>
            <a:pPr marL="342900" indent="-342900">
              <a:spcAft>
                <a:spcPts val="700"/>
              </a:spcAft>
              <a:buSzPct val="100000"/>
              <a:buChar char="•"/>
            </a:pPr>
            <a:r>
              <a:rPr lang="en-US" sz="1100" dirty="0">
                <a:solidFill>
                  <a:srgbClr val="1A2A4A"/>
                </a:solidFill>
                <a:latin typeface="Calibri" pitchFamily="34" charset="0"/>
                <a:ea typeface="Calibri" pitchFamily="34" charset="-122"/>
                <a:cs typeface="Calibri" pitchFamily="34" charset="-120"/>
              </a:rPr>
              <a:t>Cambridge Analytica used data for political targeting</a:t>
            </a:r>
            <a:endParaRPr lang="en-US" sz="1100" dirty="0"/>
          </a:p>
          <a:p>
            <a:pPr marL="342900" indent="-342900">
              <a:spcAft>
                <a:spcPts val="700"/>
              </a:spcAft>
              <a:buSzPct val="100000"/>
              <a:buChar char="•"/>
            </a:pPr>
            <a:r>
              <a:rPr lang="en-US" sz="1100" dirty="0">
                <a:solidFill>
                  <a:srgbClr val="1A2A4A"/>
                </a:solidFill>
                <a:latin typeface="Calibri" pitchFamily="34" charset="0"/>
                <a:ea typeface="Calibri" pitchFamily="34" charset="-122"/>
                <a:cs typeface="Calibri" pitchFamily="34" charset="-120"/>
              </a:rPr>
              <a:t>Facebook allowed third-party API access without adequate oversight</a:t>
            </a:r>
            <a:endParaRPr lang="en-US" sz="1100" dirty="0"/>
          </a:p>
          <a:p>
            <a:pPr marL="342900" indent="-342900">
              <a:spcAft>
                <a:spcPts val="700"/>
              </a:spcAft>
              <a:buSzPct val="100000"/>
              <a:buChar char="•"/>
            </a:pPr>
            <a:r>
              <a:rPr lang="en-US" sz="1100" dirty="0">
                <a:solidFill>
                  <a:srgbClr val="1A2A4A"/>
                </a:solidFill>
                <a:latin typeface="Calibri" pitchFamily="34" charset="0"/>
                <a:ea typeface="Calibri" pitchFamily="34" charset="-122"/>
                <a:cs typeface="Calibri" pitchFamily="34" charset="-120"/>
              </a:rPr>
              <a:t>Users were not informed how their data was shared or used</a:t>
            </a:r>
            <a:endParaRPr lang="en-US" sz="1100" dirty="0"/>
          </a:p>
          <a:p>
            <a:pPr marL="342900" indent="-342900">
              <a:spcAft>
                <a:spcPts val="700"/>
              </a:spcAft>
              <a:buSzPct val="100000"/>
              <a:buChar char="•"/>
            </a:pPr>
            <a:r>
              <a:rPr lang="en-US" sz="1100" dirty="0">
                <a:solidFill>
                  <a:srgbClr val="1A2A4A"/>
                </a:solidFill>
                <a:latin typeface="Calibri" pitchFamily="34" charset="0"/>
                <a:ea typeface="Calibri" pitchFamily="34" charset="-122"/>
                <a:cs typeface="Calibri" pitchFamily="34" charset="-120"/>
              </a:rPr>
              <a:t>Developers prioritised profit over user privacy</a:t>
            </a:r>
            <a:endParaRPr lang="en-US" sz="1100" dirty="0"/>
          </a:p>
        </p:txBody>
      </p:sp>
      <p:sp>
        <p:nvSpPr>
          <p:cNvPr id="11" name="Shape 8"/>
          <p:cNvSpPr/>
          <p:nvPr/>
        </p:nvSpPr>
        <p:spPr>
          <a:xfrm>
            <a:off x="4663440" y="896112"/>
            <a:ext cx="4160520" cy="1600200"/>
          </a:xfrm>
          <a:prstGeom prst="rect">
            <a:avLst/>
          </a:prstGeom>
          <a:solidFill>
            <a:srgbClr val="FFFFFF"/>
          </a:solidFill>
          <a:ln/>
          <a:effectLst>
            <a:outerShdw blurRad="101600" dist="25400" dir="8100000" algn="bl" rotWithShape="0">
              <a:srgbClr val="000000">
                <a:alpha val="8000"/>
              </a:srgbClr>
            </a:outerShdw>
          </a:effectLst>
        </p:spPr>
      </p:sp>
      <p:sp>
        <p:nvSpPr>
          <p:cNvPr id="12" name="Shape 9"/>
          <p:cNvSpPr/>
          <p:nvPr/>
        </p:nvSpPr>
        <p:spPr>
          <a:xfrm>
            <a:off x="4663440" y="896112"/>
            <a:ext cx="4160520" cy="411480"/>
          </a:xfrm>
          <a:prstGeom prst="rect">
            <a:avLst/>
          </a:prstGeom>
          <a:solidFill>
            <a:srgbClr val="1A2A4A"/>
          </a:solidFill>
          <a:ln w="12700">
            <a:solidFill>
              <a:srgbClr val="1A2A4A"/>
            </a:solidFill>
            <a:prstDash val="solid"/>
          </a:ln>
        </p:spPr>
      </p:sp>
      <p:sp>
        <p:nvSpPr>
          <p:cNvPr id="13" name="Text 10"/>
          <p:cNvSpPr/>
          <p:nvPr/>
        </p:nvSpPr>
        <p:spPr>
          <a:xfrm>
            <a:off x="4754880" y="896112"/>
            <a:ext cx="3931920" cy="411480"/>
          </a:xfrm>
          <a:prstGeom prst="rect">
            <a:avLst/>
          </a:prstGeom>
          <a:noFill/>
          <a:ln/>
        </p:spPr>
        <p:txBody>
          <a:bodyPr wrap="square" lIns="0" tIns="0" rIns="0" bIns="0" rtlCol="0" anchor="ctr"/>
          <a:lstStyle/>
          <a:p>
            <a:pPr marL="0" indent="0">
              <a:buNone/>
            </a:pPr>
            <a:r>
              <a:rPr lang="en-US" sz="1200" b="1" dirty="0">
                <a:solidFill>
                  <a:srgbClr val="FFFFFF"/>
                </a:solidFill>
              </a:rPr>
              <a:t>ACS Principles Violated</a:t>
            </a:r>
            <a:endParaRPr lang="en-US" sz="1200" dirty="0"/>
          </a:p>
        </p:txBody>
      </p:sp>
      <p:sp>
        <p:nvSpPr>
          <p:cNvPr id="14" name="Text 11"/>
          <p:cNvSpPr/>
          <p:nvPr/>
        </p:nvSpPr>
        <p:spPr>
          <a:xfrm>
            <a:off x="4754880" y="1399032"/>
            <a:ext cx="3931920" cy="960120"/>
          </a:xfrm>
          <a:prstGeom prst="rect">
            <a:avLst/>
          </a:prstGeom>
          <a:noFill/>
          <a:ln/>
        </p:spPr>
        <p:txBody>
          <a:bodyPr wrap="square" rtlCol="0" anchor="ctr"/>
          <a:lstStyle/>
          <a:p>
            <a:pPr marL="0" indent="0">
              <a:spcAft>
                <a:spcPts val="500"/>
              </a:spcAft>
              <a:buNone/>
            </a:pPr>
            <a:r>
              <a:rPr lang="en-US" sz="1100" dirty="0">
                <a:solidFill>
                  <a:srgbClr val="DC2626"/>
                </a:solidFill>
                <a:latin typeface="Calibri" pitchFamily="34" charset="0"/>
                <a:ea typeface="Calibri" pitchFamily="34" charset="-122"/>
                <a:cs typeface="Calibri" pitchFamily="34" charset="-120"/>
              </a:rPr>
              <a:t>❌  Privacy — no informed consent</a:t>
            </a:r>
            <a:endParaRPr lang="en-US" sz="1100" dirty="0"/>
          </a:p>
          <a:p>
            <a:pPr marL="0" indent="0">
              <a:spcAft>
                <a:spcPts val="500"/>
              </a:spcAft>
              <a:buNone/>
            </a:pPr>
            <a:r>
              <a:rPr lang="en-US" sz="1100" dirty="0">
                <a:solidFill>
                  <a:srgbClr val="DC2626"/>
                </a:solidFill>
                <a:latin typeface="Calibri" pitchFamily="34" charset="0"/>
                <a:ea typeface="Calibri" pitchFamily="34" charset="-122"/>
                <a:cs typeface="Calibri" pitchFamily="34" charset="-120"/>
              </a:rPr>
              <a:t>❌  Honesty — users were misled</a:t>
            </a:r>
            <a:endParaRPr lang="en-US" sz="1100" dirty="0"/>
          </a:p>
          <a:p>
            <a:pPr marL="0" indent="0">
              <a:spcAft>
                <a:spcPts val="500"/>
              </a:spcAft>
              <a:buNone/>
            </a:pPr>
            <a:r>
              <a:rPr lang="en-US" sz="1100" dirty="0">
                <a:solidFill>
                  <a:srgbClr val="DC2626"/>
                </a:solidFill>
                <a:latin typeface="Calibri" pitchFamily="34" charset="0"/>
                <a:ea typeface="Calibri" pitchFamily="34" charset="-122"/>
                <a:cs typeface="Calibri" pitchFamily="34" charset="-120"/>
              </a:rPr>
              <a:t>❌  Competence — poor API governance</a:t>
            </a:r>
            <a:endParaRPr lang="en-US" sz="1100" dirty="0"/>
          </a:p>
        </p:txBody>
      </p:sp>
      <p:sp>
        <p:nvSpPr>
          <p:cNvPr id="15" name="Shape 12"/>
          <p:cNvSpPr/>
          <p:nvPr/>
        </p:nvSpPr>
        <p:spPr>
          <a:xfrm>
            <a:off x="4663440" y="2633472"/>
            <a:ext cx="4160520" cy="1783080"/>
          </a:xfrm>
          <a:prstGeom prst="rect">
            <a:avLst/>
          </a:prstGeom>
          <a:solidFill>
            <a:srgbClr val="FFFFFF"/>
          </a:solidFill>
          <a:ln/>
          <a:effectLst>
            <a:outerShdw blurRad="101600" dist="25400" dir="8100000" algn="bl" rotWithShape="0">
              <a:srgbClr val="000000">
                <a:alpha val="8000"/>
              </a:srgbClr>
            </a:outerShdw>
          </a:effectLst>
        </p:spPr>
      </p:sp>
      <p:sp>
        <p:nvSpPr>
          <p:cNvPr id="16" name="Shape 13"/>
          <p:cNvSpPr/>
          <p:nvPr/>
        </p:nvSpPr>
        <p:spPr>
          <a:xfrm>
            <a:off x="4663440" y="2633472"/>
            <a:ext cx="4160520" cy="411480"/>
          </a:xfrm>
          <a:prstGeom prst="rect">
            <a:avLst/>
          </a:prstGeom>
          <a:solidFill>
            <a:srgbClr val="0D9488"/>
          </a:solidFill>
          <a:ln w="12700">
            <a:solidFill>
              <a:srgbClr val="0D9488"/>
            </a:solidFill>
            <a:prstDash val="solid"/>
          </a:ln>
        </p:spPr>
      </p:sp>
      <p:sp>
        <p:nvSpPr>
          <p:cNvPr id="17" name="Text 14"/>
          <p:cNvSpPr/>
          <p:nvPr/>
        </p:nvSpPr>
        <p:spPr>
          <a:xfrm>
            <a:off x="4754880" y="2633472"/>
            <a:ext cx="3931920" cy="411480"/>
          </a:xfrm>
          <a:prstGeom prst="rect">
            <a:avLst/>
          </a:prstGeom>
          <a:noFill/>
          <a:ln/>
        </p:spPr>
        <p:txBody>
          <a:bodyPr wrap="square" lIns="0" tIns="0" rIns="0" bIns="0" rtlCol="0" anchor="ctr"/>
          <a:lstStyle/>
          <a:p>
            <a:pPr marL="0" indent="0">
              <a:buNone/>
            </a:pPr>
            <a:r>
              <a:rPr lang="en-US" sz="1200" b="1" dirty="0">
                <a:solidFill>
                  <a:srgbClr val="FFFFFF"/>
                </a:solidFill>
              </a:rPr>
              <a:t>Lessons for Developers</a:t>
            </a:r>
            <a:endParaRPr lang="en-US" sz="1200" dirty="0"/>
          </a:p>
        </p:txBody>
      </p:sp>
      <p:sp>
        <p:nvSpPr>
          <p:cNvPr id="18" name="Text 15"/>
          <p:cNvSpPr/>
          <p:nvPr/>
        </p:nvSpPr>
        <p:spPr>
          <a:xfrm>
            <a:off x="4754880" y="3127248"/>
            <a:ext cx="3931920" cy="1097280"/>
          </a:xfrm>
          <a:prstGeom prst="rect">
            <a:avLst/>
          </a:prstGeom>
          <a:noFill/>
          <a:ln/>
        </p:spPr>
        <p:txBody>
          <a:bodyPr wrap="square" rtlCol="0" anchor="ctr"/>
          <a:lstStyle/>
          <a:p>
            <a:pPr marL="0" indent="0">
              <a:spcAft>
                <a:spcPts val="700"/>
              </a:spcAft>
              <a:buNone/>
            </a:pPr>
            <a:r>
              <a:rPr lang="en-US" sz="1100" dirty="0">
                <a:solidFill>
                  <a:srgbClr val="065F46"/>
                </a:solidFill>
                <a:latin typeface="Calibri" pitchFamily="34" charset="0"/>
                <a:ea typeface="Calibri" pitchFamily="34" charset="-122"/>
                <a:cs typeface="Calibri" pitchFamily="34" charset="-120"/>
              </a:rPr>
              <a:t>✔  Apply privacy-by-design principles</a:t>
            </a:r>
            <a:endParaRPr lang="en-US" sz="1100" dirty="0"/>
          </a:p>
          <a:p>
            <a:pPr marL="0" indent="0">
              <a:spcAft>
                <a:spcPts val="700"/>
              </a:spcAft>
              <a:buNone/>
            </a:pPr>
            <a:r>
              <a:rPr lang="en-US" sz="1100" dirty="0">
                <a:solidFill>
                  <a:srgbClr val="065F46"/>
                </a:solidFill>
                <a:latin typeface="Calibri" pitchFamily="34" charset="0"/>
                <a:ea typeface="Calibri" pitchFamily="34" charset="-122"/>
                <a:cs typeface="Calibri" pitchFamily="34" charset="-120"/>
              </a:rPr>
              <a:t>✔  Limit third-party data access strictly</a:t>
            </a:r>
            <a:endParaRPr lang="en-US" sz="1100" dirty="0"/>
          </a:p>
          <a:p>
            <a:pPr marL="0" indent="0">
              <a:spcAft>
                <a:spcPts val="700"/>
              </a:spcAft>
              <a:buNone/>
            </a:pPr>
            <a:r>
              <a:rPr lang="en-US" sz="1100" dirty="0">
                <a:solidFill>
                  <a:srgbClr val="065F46"/>
                </a:solidFill>
                <a:latin typeface="Calibri" pitchFamily="34" charset="0"/>
                <a:ea typeface="Calibri" pitchFamily="34" charset="-122"/>
                <a:cs typeface="Calibri" pitchFamily="34" charset="-120"/>
              </a:rPr>
              <a:t>✔  Be transparent about data use policies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F5A623"/>
          </a:solidFill>
          <a:ln w="12700">
            <a:solidFill>
              <a:srgbClr val="F5A623"/>
            </a:solidFill>
            <a:prstDash val="solid"/>
          </a:ln>
        </p:spPr>
      </p:sp>
      <p:sp>
        <p:nvSpPr>
          <p:cNvPr id="3" name="Shape 1"/>
          <p:cNvSpPr/>
          <p:nvPr/>
        </p:nvSpPr>
        <p:spPr>
          <a:xfrm>
            <a:off x="8412480" y="228600"/>
            <a:ext cx="457200" cy="457200"/>
          </a:xfrm>
          <a:prstGeom prst="ellipse">
            <a:avLst/>
          </a:prstGeom>
          <a:solidFill>
            <a:srgbClr val="F5A623"/>
          </a:solidFill>
          <a:ln w="12700">
            <a:solidFill>
              <a:srgbClr val="F5A623"/>
            </a:solidFill>
            <a:prstDash val="solid"/>
          </a:ln>
        </p:spPr>
      </p:sp>
      <p:sp>
        <p:nvSpPr>
          <p:cNvPr id="4" name="Text 2"/>
          <p:cNvSpPr/>
          <p:nvPr/>
        </p:nvSpPr>
        <p:spPr>
          <a:xfrm>
            <a:off x="8412480" y="228600"/>
            <a:ext cx="457200" cy="457200"/>
          </a:xfrm>
          <a:prstGeom prst="rect">
            <a:avLst/>
          </a:prstGeom>
          <a:noFill/>
          <a:ln/>
        </p:spPr>
        <p:txBody>
          <a:bodyPr wrap="square" lIns="0" tIns="0" rIns="0" bIns="0" rtlCol="0" anchor="ctr"/>
          <a:lstStyle/>
          <a:p>
            <a:pPr marL="0" indent="0" algn="ctr">
              <a:buNone/>
            </a:pPr>
            <a:r>
              <a:rPr lang="en-US" sz="1200" b="1" dirty="0">
                <a:solidFill>
                  <a:srgbClr val="1A2A4A"/>
                </a:solidFill>
              </a:rPr>
              <a:t>5</a:t>
            </a:r>
            <a:endParaRPr lang="en-US" sz="1200" dirty="0"/>
          </a:p>
        </p:txBody>
      </p:sp>
      <p:sp>
        <p:nvSpPr>
          <p:cNvPr id="5" name="Text 3"/>
          <p:cNvSpPr/>
          <p:nvPr/>
        </p:nvSpPr>
        <p:spPr>
          <a:xfrm>
            <a:off x="365760" y="164592"/>
            <a:ext cx="850392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Ethics Across the Software Development Lifecycle</a:t>
            </a:r>
            <a:endParaRPr lang="en-US" sz="2200" dirty="0"/>
          </a:p>
        </p:txBody>
      </p:sp>
      <p:sp>
        <p:nvSpPr>
          <p:cNvPr id="6" name="Shape 4"/>
          <p:cNvSpPr/>
          <p:nvPr/>
        </p:nvSpPr>
        <p:spPr>
          <a:xfrm>
            <a:off x="228600" y="896112"/>
            <a:ext cx="1609344" cy="2606040"/>
          </a:xfrm>
          <a:prstGeom prst="rect">
            <a:avLst/>
          </a:prstGeom>
          <a:solidFill>
            <a:srgbClr val="1E3A6E"/>
          </a:solidFill>
          <a:ln/>
          <a:effectLst>
            <a:outerShdw blurRad="76200" dist="25400" dir="8100000" algn="bl" rotWithShape="0">
              <a:srgbClr val="000000">
                <a:alpha val="20000"/>
              </a:srgbClr>
            </a:outerShdw>
          </a:effectLst>
        </p:spPr>
      </p:sp>
      <p:sp>
        <p:nvSpPr>
          <p:cNvPr id="7" name="Shape 5"/>
          <p:cNvSpPr/>
          <p:nvPr/>
        </p:nvSpPr>
        <p:spPr>
          <a:xfrm>
            <a:off x="228600" y="896112"/>
            <a:ext cx="1609344" cy="457200"/>
          </a:xfrm>
          <a:prstGeom prst="rect">
            <a:avLst/>
          </a:prstGeom>
          <a:solidFill>
            <a:srgbClr val="3B82F6"/>
          </a:solidFill>
          <a:ln w="12700">
            <a:solidFill>
              <a:srgbClr val="3B82F6"/>
            </a:solidFill>
            <a:prstDash val="solid"/>
          </a:ln>
        </p:spPr>
      </p:sp>
      <p:sp>
        <p:nvSpPr>
          <p:cNvPr id="8" name="Text 6"/>
          <p:cNvSpPr/>
          <p:nvPr/>
        </p:nvSpPr>
        <p:spPr>
          <a:xfrm>
            <a:off x="228600" y="896112"/>
            <a:ext cx="1609344" cy="457200"/>
          </a:xfrm>
          <a:prstGeom prst="rect">
            <a:avLst/>
          </a:prstGeom>
          <a:noFill/>
          <a:ln/>
        </p:spPr>
        <p:txBody>
          <a:bodyPr wrap="square" lIns="0" tIns="0" rIns="0" bIns="0" rtlCol="0" anchor="ctr"/>
          <a:lstStyle/>
          <a:p>
            <a:pPr marL="0" indent="0" algn="ctr">
              <a:buNone/>
            </a:pPr>
            <a:r>
              <a:rPr lang="en-US" sz="1150" b="1" dirty="0">
                <a:solidFill>
                  <a:srgbClr val="FFFFFF"/>
                </a:solidFill>
              </a:rPr>
              <a:t>Planning</a:t>
            </a:r>
            <a:endParaRPr lang="en-US" sz="1150" dirty="0"/>
          </a:p>
        </p:txBody>
      </p:sp>
      <p:sp>
        <p:nvSpPr>
          <p:cNvPr id="9" name="Text 7"/>
          <p:cNvSpPr/>
          <p:nvPr/>
        </p:nvSpPr>
        <p:spPr>
          <a:xfrm>
            <a:off x="301752" y="1417320"/>
            <a:ext cx="1463040" cy="1965960"/>
          </a:xfrm>
          <a:prstGeom prst="rect">
            <a:avLst/>
          </a:prstGeom>
          <a:noFill/>
          <a:ln/>
        </p:spPr>
        <p:txBody>
          <a:bodyPr wrap="square" rtlCol="0" anchor="t"/>
          <a:lstStyle/>
          <a:p>
            <a:pPr marL="0" indent="0">
              <a:buNone/>
            </a:pPr>
            <a:r>
              <a:rPr lang="en-US" sz="950" dirty="0">
                <a:solidFill>
                  <a:srgbClr val="CBD5E1"/>
                </a:solidFill>
                <a:latin typeface="Calibri" pitchFamily="34" charset="0"/>
                <a:ea typeface="Calibri" pitchFamily="34" charset="-122"/>
                <a:cs typeface="Calibri" pitchFamily="34" charset="-120"/>
              </a:rPr>
              <a:t>Define ethical requirements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Identify privacy risks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Set security standards</a:t>
            </a:r>
            <a:endParaRPr lang="en-US" sz="950" dirty="0"/>
          </a:p>
        </p:txBody>
      </p:sp>
      <p:sp>
        <p:nvSpPr>
          <p:cNvPr id="10" name="Shape 8"/>
          <p:cNvSpPr/>
          <p:nvPr/>
        </p:nvSpPr>
        <p:spPr>
          <a:xfrm>
            <a:off x="1837944" y="2057400"/>
            <a:ext cx="146304" cy="54864"/>
          </a:xfrm>
          <a:prstGeom prst="rect">
            <a:avLst/>
          </a:prstGeom>
          <a:solidFill>
            <a:srgbClr val="F5A623"/>
          </a:solidFill>
          <a:ln w="12700">
            <a:solidFill>
              <a:srgbClr val="F5A623"/>
            </a:solidFill>
            <a:prstDash val="solid"/>
          </a:ln>
        </p:spPr>
      </p:sp>
      <p:sp>
        <p:nvSpPr>
          <p:cNvPr id="11" name="Shape 9"/>
          <p:cNvSpPr/>
          <p:nvPr/>
        </p:nvSpPr>
        <p:spPr>
          <a:xfrm>
            <a:off x="1984248" y="896112"/>
            <a:ext cx="1609344" cy="2606040"/>
          </a:xfrm>
          <a:prstGeom prst="rect">
            <a:avLst/>
          </a:prstGeom>
          <a:solidFill>
            <a:srgbClr val="1E3A6E"/>
          </a:solidFill>
          <a:ln/>
          <a:effectLst>
            <a:outerShdw blurRad="76200" dist="25400" dir="8100000" algn="bl" rotWithShape="0">
              <a:srgbClr val="000000">
                <a:alpha val="20000"/>
              </a:srgbClr>
            </a:outerShdw>
          </a:effectLst>
        </p:spPr>
      </p:sp>
      <p:sp>
        <p:nvSpPr>
          <p:cNvPr id="12" name="Shape 10"/>
          <p:cNvSpPr/>
          <p:nvPr/>
        </p:nvSpPr>
        <p:spPr>
          <a:xfrm>
            <a:off x="1984248" y="896112"/>
            <a:ext cx="1609344" cy="457200"/>
          </a:xfrm>
          <a:prstGeom prst="rect">
            <a:avLst/>
          </a:prstGeom>
          <a:solidFill>
            <a:srgbClr val="8B5CF6"/>
          </a:solidFill>
          <a:ln w="12700">
            <a:solidFill>
              <a:srgbClr val="8B5CF6"/>
            </a:solidFill>
            <a:prstDash val="solid"/>
          </a:ln>
        </p:spPr>
      </p:sp>
      <p:sp>
        <p:nvSpPr>
          <p:cNvPr id="13" name="Text 11"/>
          <p:cNvSpPr/>
          <p:nvPr/>
        </p:nvSpPr>
        <p:spPr>
          <a:xfrm>
            <a:off x="1984248" y="896112"/>
            <a:ext cx="1609344" cy="457200"/>
          </a:xfrm>
          <a:prstGeom prst="rect">
            <a:avLst/>
          </a:prstGeom>
          <a:noFill/>
          <a:ln/>
        </p:spPr>
        <p:txBody>
          <a:bodyPr wrap="square" lIns="0" tIns="0" rIns="0" bIns="0" rtlCol="0" anchor="ctr"/>
          <a:lstStyle/>
          <a:p>
            <a:pPr marL="0" indent="0" algn="ctr">
              <a:buNone/>
            </a:pPr>
            <a:r>
              <a:rPr lang="en-US" sz="1150" b="1" dirty="0">
                <a:solidFill>
                  <a:srgbClr val="FFFFFF"/>
                </a:solidFill>
              </a:rPr>
              <a:t>Design</a:t>
            </a:r>
            <a:endParaRPr lang="en-US" sz="1150" dirty="0"/>
          </a:p>
        </p:txBody>
      </p:sp>
      <p:sp>
        <p:nvSpPr>
          <p:cNvPr id="14" name="Text 12"/>
          <p:cNvSpPr/>
          <p:nvPr/>
        </p:nvSpPr>
        <p:spPr>
          <a:xfrm>
            <a:off x="2057400" y="1417320"/>
            <a:ext cx="1463040" cy="1965960"/>
          </a:xfrm>
          <a:prstGeom prst="rect">
            <a:avLst/>
          </a:prstGeom>
          <a:noFill/>
          <a:ln/>
        </p:spPr>
        <p:txBody>
          <a:bodyPr wrap="square" rtlCol="0" anchor="t"/>
          <a:lstStyle/>
          <a:p>
            <a:pPr marL="0" indent="0">
              <a:buNone/>
            </a:pPr>
            <a:r>
              <a:rPr lang="en-US" sz="950" dirty="0">
                <a:solidFill>
                  <a:srgbClr val="CBD5E1"/>
                </a:solidFill>
                <a:latin typeface="Calibri" pitchFamily="34" charset="0"/>
                <a:ea typeface="Calibri" pitchFamily="34" charset="-122"/>
                <a:cs typeface="Calibri" pitchFamily="34" charset="-120"/>
              </a:rPr>
              <a:t>Privacy-by-design</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Secure architecture</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User consent flows</a:t>
            </a:r>
            <a:endParaRPr lang="en-US" sz="950" dirty="0"/>
          </a:p>
        </p:txBody>
      </p:sp>
      <p:sp>
        <p:nvSpPr>
          <p:cNvPr id="15" name="Shape 13"/>
          <p:cNvSpPr/>
          <p:nvPr/>
        </p:nvSpPr>
        <p:spPr>
          <a:xfrm>
            <a:off x="3593592" y="2057400"/>
            <a:ext cx="146304" cy="54864"/>
          </a:xfrm>
          <a:prstGeom prst="rect">
            <a:avLst/>
          </a:prstGeom>
          <a:solidFill>
            <a:srgbClr val="F5A623"/>
          </a:solidFill>
          <a:ln w="12700">
            <a:solidFill>
              <a:srgbClr val="F5A623"/>
            </a:solidFill>
            <a:prstDash val="solid"/>
          </a:ln>
        </p:spPr>
      </p:sp>
      <p:sp>
        <p:nvSpPr>
          <p:cNvPr id="16" name="Shape 14"/>
          <p:cNvSpPr/>
          <p:nvPr/>
        </p:nvSpPr>
        <p:spPr>
          <a:xfrm>
            <a:off x="3739896" y="896112"/>
            <a:ext cx="1609344" cy="2606040"/>
          </a:xfrm>
          <a:prstGeom prst="rect">
            <a:avLst/>
          </a:prstGeom>
          <a:solidFill>
            <a:srgbClr val="1E3A6E"/>
          </a:solidFill>
          <a:ln/>
          <a:effectLst>
            <a:outerShdw blurRad="76200" dist="25400" dir="8100000" algn="bl" rotWithShape="0">
              <a:srgbClr val="000000">
                <a:alpha val="20000"/>
              </a:srgbClr>
            </a:outerShdw>
          </a:effectLst>
        </p:spPr>
      </p:sp>
      <p:sp>
        <p:nvSpPr>
          <p:cNvPr id="17" name="Shape 15"/>
          <p:cNvSpPr/>
          <p:nvPr/>
        </p:nvSpPr>
        <p:spPr>
          <a:xfrm>
            <a:off x="3739896" y="896112"/>
            <a:ext cx="1609344" cy="457200"/>
          </a:xfrm>
          <a:prstGeom prst="rect">
            <a:avLst/>
          </a:prstGeom>
          <a:solidFill>
            <a:srgbClr val="10B981"/>
          </a:solidFill>
          <a:ln w="12700">
            <a:solidFill>
              <a:srgbClr val="10B981"/>
            </a:solidFill>
            <a:prstDash val="solid"/>
          </a:ln>
        </p:spPr>
      </p:sp>
      <p:sp>
        <p:nvSpPr>
          <p:cNvPr id="18" name="Text 16"/>
          <p:cNvSpPr/>
          <p:nvPr/>
        </p:nvSpPr>
        <p:spPr>
          <a:xfrm>
            <a:off x="3739896" y="896112"/>
            <a:ext cx="1609344" cy="457200"/>
          </a:xfrm>
          <a:prstGeom prst="rect">
            <a:avLst/>
          </a:prstGeom>
          <a:noFill/>
          <a:ln/>
        </p:spPr>
        <p:txBody>
          <a:bodyPr wrap="square" lIns="0" tIns="0" rIns="0" bIns="0" rtlCol="0" anchor="ctr"/>
          <a:lstStyle/>
          <a:p>
            <a:pPr marL="0" indent="0" algn="ctr">
              <a:buNone/>
            </a:pPr>
            <a:r>
              <a:rPr lang="en-US" sz="1150" b="1" dirty="0">
                <a:solidFill>
                  <a:srgbClr val="FFFFFF"/>
                </a:solidFill>
              </a:rPr>
              <a:t>Development</a:t>
            </a:r>
            <a:endParaRPr lang="en-US" sz="1150" dirty="0"/>
          </a:p>
        </p:txBody>
      </p:sp>
      <p:sp>
        <p:nvSpPr>
          <p:cNvPr id="19" name="Text 17"/>
          <p:cNvSpPr/>
          <p:nvPr/>
        </p:nvSpPr>
        <p:spPr>
          <a:xfrm>
            <a:off x="3813048" y="1417320"/>
            <a:ext cx="1463040" cy="1965960"/>
          </a:xfrm>
          <a:prstGeom prst="rect">
            <a:avLst/>
          </a:prstGeom>
          <a:noFill/>
          <a:ln/>
        </p:spPr>
        <p:txBody>
          <a:bodyPr wrap="square" rtlCol="0" anchor="t"/>
          <a:lstStyle/>
          <a:p>
            <a:pPr marL="0" indent="0">
              <a:buNone/>
            </a:pPr>
            <a:r>
              <a:rPr lang="en-US" sz="950" dirty="0">
                <a:solidFill>
                  <a:srgbClr val="CBD5E1"/>
                </a:solidFill>
                <a:latin typeface="Calibri" pitchFamily="34" charset="0"/>
                <a:ea typeface="Calibri" pitchFamily="34" charset="-122"/>
                <a:cs typeface="Calibri" pitchFamily="34" charset="-120"/>
              </a:rPr>
              <a:t>Secure coding practices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Code reviews &amp; ethics checks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Avoid bias in algorithms</a:t>
            </a:r>
            <a:endParaRPr lang="en-US" sz="950" dirty="0"/>
          </a:p>
        </p:txBody>
      </p:sp>
      <p:sp>
        <p:nvSpPr>
          <p:cNvPr id="20" name="Shape 18"/>
          <p:cNvSpPr/>
          <p:nvPr/>
        </p:nvSpPr>
        <p:spPr>
          <a:xfrm>
            <a:off x="5349240" y="2057400"/>
            <a:ext cx="146304" cy="54864"/>
          </a:xfrm>
          <a:prstGeom prst="rect">
            <a:avLst/>
          </a:prstGeom>
          <a:solidFill>
            <a:srgbClr val="F5A623"/>
          </a:solidFill>
          <a:ln w="12700">
            <a:solidFill>
              <a:srgbClr val="F5A623"/>
            </a:solidFill>
            <a:prstDash val="solid"/>
          </a:ln>
        </p:spPr>
      </p:sp>
      <p:sp>
        <p:nvSpPr>
          <p:cNvPr id="21" name="Shape 19"/>
          <p:cNvSpPr/>
          <p:nvPr/>
        </p:nvSpPr>
        <p:spPr>
          <a:xfrm>
            <a:off x="5495544" y="896112"/>
            <a:ext cx="1609344" cy="2606040"/>
          </a:xfrm>
          <a:prstGeom prst="rect">
            <a:avLst/>
          </a:prstGeom>
          <a:solidFill>
            <a:srgbClr val="1E3A6E"/>
          </a:solidFill>
          <a:ln/>
          <a:effectLst>
            <a:outerShdw blurRad="76200" dist="25400" dir="8100000" algn="bl" rotWithShape="0">
              <a:srgbClr val="000000">
                <a:alpha val="20000"/>
              </a:srgbClr>
            </a:outerShdw>
          </a:effectLst>
        </p:spPr>
      </p:sp>
      <p:sp>
        <p:nvSpPr>
          <p:cNvPr id="22" name="Shape 20"/>
          <p:cNvSpPr/>
          <p:nvPr/>
        </p:nvSpPr>
        <p:spPr>
          <a:xfrm>
            <a:off x="5495544" y="896112"/>
            <a:ext cx="1609344" cy="457200"/>
          </a:xfrm>
          <a:prstGeom prst="rect">
            <a:avLst/>
          </a:prstGeom>
          <a:solidFill>
            <a:srgbClr val="F59E0B"/>
          </a:solidFill>
          <a:ln w="12700">
            <a:solidFill>
              <a:srgbClr val="F59E0B"/>
            </a:solidFill>
            <a:prstDash val="solid"/>
          </a:ln>
        </p:spPr>
      </p:sp>
      <p:sp>
        <p:nvSpPr>
          <p:cNvPr id="23" name="Text 21"/>
          <p:cNvSpPr/>
          <p:nvPr/>
        </p:nvSpPr>
        <p:spPr>
          <a:xfrm>
            <a:off x="5495544" y="896112"/>
            <a:ext cx="1609344" cy="457200"/>
          </a:xfrm>
          <a:prstGeom prst="rect">
            <a:avLst/>
          </a:prstGeom>
          <a:noFill/>
          <a:ln/>
        </p:spPr>
        <p:txBody>
          <a:bodyPr wrap="square" lIns="0" tIns="0" rIns="0" bIns="0" rtlCol="0" anchor="ctr"/>
          <a:lstStyle/>
          <a:p>
            <a:pPr marL="0" indent="0" algn="ctr">
              <a:buNone/>
            </a:pPr>
            <a:r>
              <a:rPr lang="en-US" sz="1150" b="1" dirty="0">
                <a:solidFill>
                  <a:srgbClr val="FFFFFF"/>
                </a:solidFill>
              </a:rPr>
              <a:t>Testing</a:t>
            </a:r>
            <a:endParaRPr lang="en-US" sz="1150" dirty="0"/>
          </a:p>
        </p:txBody>
      </p:sp>
      <p:sp>
        <p:nvSpPr>
          <p:cNvPr id="24" name="Text 22"/>
          <p:cNvSpPr/>
          <p:nvPr/>
        </p:nvSpPr>
        <p:spPr>
          <a:xfrm>
            <a:off x="5568696" y="1417320"/>
            <a:ext cx="1463040" cy="1965960"/>
          </a:xfrm>
          <a:prstGeom prst="rect">
            <a:avLst/>
          </a:prstGeom>
          <a:noFill/>
          <a:ln/>
        </p:spPr>
        <p:txBody>
          <a:bodyPr wrap="square" rtlCol="0" anchor="t"/>
          <a:lstStyle/>
          <a:p>
            <a:pPr marL="0" indent="0">
              <a:buNone/>
            </a:pPr>
            <a:r>
              <a:rPr lang="en-US" sz="950" dirty="0">
                <a:solidFill>
                  <a:srgbClr val="CBD5E1"/>
                </a:solidFill>
                <a:latin typeface="Calibri" pitchFamily="34" charset="0"/>
                <a:ea typeface="Calibri" pitchFamily="34" charset="-122"/>
                <a:cs typeface="Calibri" pitchFamily="34" charset="-120"/>
              </a:rPr>
              <a:t>Penetration testing</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Privacy compliance checks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Vulnerability scanning</a:t>
            </a:r>
            <a:endParaRPr lang="en-US" sz="950" dirty="0"/>
          </a:p>
        </p:txBody>
      </p:sp>
      <p:sp>
        <p:nvSpPr>
          <p:cNvPr id="25" name="Shape 23"/>
          <p:cNvSpPr/>
          <p:nvPr/>
        </p:nvSpPr>
        <p:spPr>
          <a:xfrm>
            <a:off x="7104888" y="2057400"/>
            <a:ext cx="146304" cy="54864"/>
          </a:xfrm>
          <a:prstGeom prst="rect">
            <a:avLst/>
          </a:prstGeom>
          <a:solidFill>
            <a:srgbClr val="F5A623"/>
          </a:solidFill>
          <a:ln w="12700">
            <a:solidFill>
              <a:srgbClr val="F5A623"/>
            </a:solidFill>
            <a:prstDash val="solid"/>
          </a:ln>
        </p:spPr>
      </p:sp>
      <p:sp>
        <p:nvSpPr>
          <p:cNvPr id="26" name="Shape 24"/>
          <p:cNvSpPr/>
          <p:nvPr/>
        </p:nvSpPr>
        <p:spPr>
          <a:xfrm>
            <a:off x="7251192" y="896112"/>
            <a:ext cx="1609344" cy="2606040"/>
          </a:xfrm>
          <a:prstGeom prst="rect">
            <a:avLst/>
          </a:prstGeom>
          <a:solidFill>
            <a:srgbClr val="1E3A6E"/>
          </a:solidFill>
          <a:ln/>
          <a:effectLst>
            <a:outerShdw blurRad="76200" dist="25400" dir="8100000" algn="bl" rotWithShape="0">
              <a:srgbClr val="000000">
                <a:alpha val="20000"/>
              </a:srgbClr>
            </a:outerShdw>
          </a:effectLst>
        </p:spPr>
      </p:sp>
      <p:sp>
        <p:nvSpPr>
          <p:cNvPr id="27" name="Shape 25"/>
          <p:cNvSpPr/>
          <p:nvPr/>
        </p:nvSpPr>
        <p:spPr>
          <a:xfrm>
            <a:off x="7251192" y="896112"/>
            <a:ext cx="1609344" cy="457200"/>
          </a:xfrm>
          <a:prstGeom prst="rect">
            <a:avLst/>
          </a:prstGeom>
          <a:solidFill>
            <a:srgbClr val="EF4444"/>
          </a:solidFill>
          <a:ln w="12700">
            <a:solidFill>
              <a:srgbClr val="EF4444"/>
            </a:solidFill>
            <a:prstDash val="solid"/>
          </a:ln>
        </p:spPr>
      </p:sp>
      <p:sp>
        <p:nvSpPr>
          <p:cNvPr id="28" name="Text 26"/>
          <p:cNvSpPr/>
          <p:nvPr/>
        </p:nvSpPr>
        <p:spPr>
          <a:xfrm>
            <a:off x="7251192" y="896112"/>
            <a:ext cx="1609344" cy="457200"/>
          </a:xfrm>
          <a:prstGeom prst="rect">
            <a:avLst/>
          </a:prstGeom>
          <a:noFill/>
          <a:ln/>
        </p:spPr>
        <p:txBody>
          <a:bodyPr wrap="square" lIns="0" tIns="0" rIns="0" bIns="0" rtlCol="0" anchor="ctr"/>
          <a:lstStyle/>
          <a:p>
            <a:pPr marL="0" indent="0" algn="ctr">
              <a:buNone/>
            </a:pPr>
            <a:r>
              <a:rPr lang="en-US" sz="1150" b="1" dirty="0">
                <a:solidFill>
                  <a:srgbClr val="FFFFFF"/>
                </a:solidFill>
              </a:rPr>
              <a:t>Deployment</a:t>
            </a:r>
            <a:endParaRPr lang="en-US" sz="1150" dirty="0"/>
          </a:p>
        </p:txBody>
      </p:sp>
      <p:sp>
        <p:nvSpPr>
          <p:cNvPr id="29" name="Text 27"/>
          <p:cNvSpPr/>
          <p:nvPr/>
        </p:nvSpPr>
        <p:spPr>
          <a:xfrm>
            <a:off x="7324344" y="1417320"/>
            <a:ext cx="1463040" cy="1965960"/>
          </a:xfrm>
          <a:prstGeom prst="rect">
            <a:avLst/>
          </a:prstGeom>
          <a:noFill/>
          <a:ln/>
        </p:spPr>
        <p:txBody>
          <a:bodyPr wrap="square" rtlCol="0" anchor="t"/>
          <a:lstStyle/>
          <a:p>
            <a:pPr marL="0" indent="0">
              <a:buNone/>
            </a:pPr>
            <a:r>
              <a:rPr lang="en-US" sz="950" dirty="0">
                <a:solidFill>
                  <a:srgbClr val="CBD5E1"/>
                </a:solidFill>
                <a:latin typeface="Calibri" pitchFamily="34" charset="0"/>
                <a:ea typeface="Calibri" pitchFamily="34" charset="-122"/>
                <a:cs typeface="Calibri" pitchFamily="34" charset="-120"/>
              </a:rPr>
              <a:t>Transparent release notes</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Data breach response plan</a:t>
            </a: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Ongoing monitoring</a:t>
            </a:r>
            <a:endParaRPr lang="en-US" sz="950" dirty="0"/>
          </a:p>
        </p:txBody>
      </p:sp>
      <p:sp>
        <p:nvSpPr>
          <p:cNvPr id="30" name="Shape 28"/>
          <p:cNvSpPr/>
          <p:nvPr/>
        </p:nvSpPr>
        <p:spPr>
          <a:xfrm>
            <a:off x="228600" y="3657600"/>
            <a:ext cx="8686800" cy="1143000"/>
          </a:xfrm>
          <a:prstGeom prst="rect">
            <a:avLst/>
          </a:prstGeom>
          <a:solidFill>
            <a:srgbClr val="0F2040"/>
          </a:solidFill>
          <a:ln/>
          <a:effectLst>
            <a:outerShdw blurRad="101600" dist="25400" dir="16200000" algn="bl" rotWithShape="0">
              <a:srgbClr val="000000">
                <a:alpha val="25000"/>
              </a:srgbClr>
            </a:outerShdw>
          </a:effectLst>
        </p:spPr>
      </p:sp>
      <p:sp>
        <p:nvSpPr>
          <p:cNvPr id="31" name="Shape 29"/>
          <p:cNvSpPr/>
          <p:nvPr/>
        </p:nvSpPr>
        <p:spPr>
          <a:xfrm>
            <a:off x="228600" y="3657600"/>
            <a:ext cx="82296" cy="1143000"/>
          </a:xfrm>
          <a:prstGeom prst="rect">
            <a:avLst/>
          </a:prstGeom>
          <a:solidFill>
            <a:srgbClr val="F5A623"/>
          </a:solidFill>
          <a:ln w="12700">
            <a:solidFill>
              <a:srgbClr val="F5A623"/>
            </a:solidFill>
            <a:prstDash val="solid"/>
          </a:ln>
        </p:spPr>
      </p:sp>
      <p:sp>
        <p:nvSpPr>
          <p:cNvPr id="32" name="Text 30"/>
          <p:cNvSpPr/>
          <p:nvPr/>
        </p:nvSpPr>
        <p:spPr>
          <a:xfrm>
            <a:off x="411480" y="3703320"/>
            <a:ext cx="2286000" cy="365760"/>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Key Takeaway</a:t>
            </a:r>
            <a:endParaRPr lang="en-US" sz="1200" dirty="0"/>
          </a:p>
        </p:txBody>
      </p:sp>
      <p:sp>
        <p:nvSpPr>
          <p:cNvPr id="33" name="Text 31"/>
          <p:cNvSpPr/>
          <p:nvPr/>
        </p:nvSpPr>
        <p:spPr>
          <a:xfrm>
            <a:off x="411480" y="4041648"/>
            <a:ext cx="8321040" cy="640080"/>
          </a:xfrm>
          <a:prstGeom prst="rect">
            <a:avLst/>
          </a:prstGeom>
          <a:noFill/>
          <a:ln/>
        </p:spPr>
        <p:txBody>
          <a:bodyPr wrap="square"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Ethics is not a phase — it is a mindset embedded throughout the entire development process. ACS-aligned developers ensure privacy, security, competence, and honesty guide every decision they make.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770</Words>
  <Application>Microsoft Office PowerPoint</Application>
  <PresentationFormat>On-screen Show (16:9)</PresentationFormat>
  <Paragraphs>90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ACS Code of Ethics in Software Development</dc:title>
  <dc:subject>PptxGenJS Presentation</dc:subject>
  <dc:creator>PptxGenJS</dc:creator>
  <cp:lastModifiedBy>rasel miah</cp:lastModifiedBy>
  <cp:revision>2</cp:revision>
  <dcterms:created xsi:type="dcterms:W3CDTF">2026-04-25T07:23:58Z</dcterms:created>
  <dcterms:modified xsi:type="dcterms:W3CDTF">2026-04-25T07:44:50Z</dcterms:modified>
</cp:coreProperties>
</file>